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900000"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003D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0" y="1097280"/>
            <a:ext cx="231343" cy="231343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6536" y="1097280"/>
            <a:ext cx="231343" cy="231343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0" y="1368856"/>
            <a:ext cx="231343" cy="231343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6536" y="1368856"/>
            <a:ext cx="231343" cy="231343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111556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Microsoft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 Semibold"/>
              </a:defRPr>
            </a:pPr>
            <a:r>
              <a:t>From Apache Incubator to</a:t>
            </a:r>
            <a:br/>
            <a:r>
              <a:t>Top-Level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04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D6FA"/>
                </a:solidFill>
                <a:latin typeface="Segoe UI"/>
              </a:defRPr>
            </a:pPr>
            <a:r>
              <a:t>The Apache Gluten Journey with Velox at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EC8FF"/>
                </a:solidFill>
                <a:latin typeface="Segoe UI"/>
              </a:defRPr>
            </a:pPr>
            <a:r>
              <a:t>Production lessons from Fabric NEE — and the upstream changes they drove in Gluten and Velox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7548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Segoe UI"/>
              </a:defRPr>
            </a:pPr>
            <a:r>
              <a:t>William Chen  &amp;  Ajith Shetty  •  Microsoft  •  VeloxCon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16636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C8FF"/>
                </a:solidFill>
                <a:latin typeface="Segoe UI"/>
              </a:defRPr>
            </a:pPr>
            <a:r>
              <a:t>April 30, 2026  •  Meta HQ, Menlo 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01</a:t>
            </a:r>
            <a:r>
              <a:rPr sz="1500">
                <a:solidFill>
                  <a:srgbClr val="323130"/>
                </a:solidFill>
                <a:latin typeface="Segoe UI"/>
              </a:rPr>
              <a:t>  Why This Moment Matters — Gluten TLP &amp; Microsoft's engineering commitment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02</a:t>
            </a:r>
            <a:r>
              <a:rPr sz="1500">
                <a:solidFill>
                  <a:srgbClr val="323130"/>
                </a:solidFill>
                <a:latin typeface="Segoe UI"/>
              </a:rPr>
              <a:t>  Architecture in Practice — How Gluten offloads Spark to Velox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03</a:t>
            </a:r>
            <a:r>
              <a:rPr sz="1500">
                <a:solidFill>
                  <a:srgbClr val="323130"/>
                </a:solidFill>
                <a:latin typeface="Segoe UI"/>
              </a:rPr>
              <a:t>  Production War Stories — What production exposed, what we upstreamed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04</a:t>
            </a:r>
            <a:r>
              <a:rPr sz="1500">
                <a:solidFill>
                  <a:srgbClr val="323130"/>
                </a:solidFill>
                <a:latin typeface="Segoe UI"/>
              </a:rPr>
              <a:t>  Upstream Contributions — Semantic parity • Fallback reduction • Performance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05</a:t>
            </a:r>
            <a:r>
              <a:rPr sz="1500">
                <a:solidFill>
                  <a:srgbClr val="323130"/>
                </a:solidFill>
                <a:latin typeface="Segoe UI"/>
              </a:rPr>
              <a:t>  Fabric NEE — Product evidence from Microsoft's Spark runtime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06</a:t>
            </a:r>
            <a:r>
              <a:rPr sz="1500">
                <a:solidFill>
                  <a:srgbClr val="323130"/>
                </a:solidFill>
                <a:latin typeface="Segoe UI"/>
              </a:rPr>
              <a:t>  Graduation &amp; Roadmap — TLP lessons &amp; 2026 outlook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0078D4"/>
                </a:solidFill>
                <a:latin typeface="Segoe UI"/>
              </a:rPr>
              <a:t>07</a:t>
            </a:r>
            <a:r>
              <a:rPr sz="1500">
                <a:solidFill>
                  <a:srgbClr val="323130"/>
                </a:solidFill>
                <a:latin typeface="Segoe UI"/>
              </a:rPr>
              <a:t>  Call for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515600" cy="822960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130"/>
                </a:solidFill>
                <a:latin typeface="Segoe UI"/>
              </a:defRPr>
            </a:pPr>
            <a:r>
              <a:t>Context: Yuan Zhou's session (1:40 PM) covers Gluten's community growth and ecosystem. This talk focuses on production lessons at Fabric scale — and how those lessons upstream to Gluten, Velox, and Spark.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900000"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886CE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Why This Moment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D6FA"/>
                </a:solidFill>
                <a:latin typeface="Segoe UI"/>
              </a:defRPr>
            </a:pPr>
            <a:r>
              <a:t>Production validation as a force multiplier for open-source maturity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6FA"/>
                </a:solidFill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Why This Moment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4864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23130"/>
                </a:solidFill>
                <a:latin typeface="Segoe UI"/>
              </a:defRPr>
            </a:pPr>
            <a:r>
              <a:t>February 18, 2026 — Apache Gluten graduated to an ASF Top-Level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515600" cy="1280160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1280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78D4"/>
                </a:solidFill>
                <a:latin typeface="Segoe UI"/>
              </a:rPr>
              <a:t>Our thesis: </a:t>
            </a:r>
            <a:r>
              <a:rPr sz="1300">
                <a:solidFill>
                  <a:srgbClr val="323130"/>
                </a:solidFill>
                <a:latin typeface="Segoe UI"/>
              </a:rPr>
              <a:t>Production feedback loops accelerate open-source maturity. At Fabric scale, we discover semantic gaps, edge-case bugs, and performance bottlenecks orders of magnitude faster than synthetic benchmarks — and upstream fixes within sprints. This production-to-upstream cycle helped Gluten reach TLP graduation.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32918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8620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130"/>
                </a:solidFill>
                <a:latin typeface="Segoe UI"/>
              </a:defRPr>
            </a:pPr>
            <a:r>
              <a:t>Production User</a:t>
            </a:r>
            <a:br/>
            <a:r>
              <a:t>Fabric NEE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383280"/>
            <a:ext cx="32918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34930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  <a:latin typeface="Segoe UI"/>
              </a:defRPr>
            </a:pPr>
            <a:r>
              <a:t>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388620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130"/>
                </a:solidFill>
                <a:latin typeface="Segoe UI"/>
              </a:defRPr>
            </a:pPr>
            <a:r>
              <a:t>Upstream Contributor</a:t>
            </a:r>
            <a:br/>
            <a:r>
              <a:t>Gluten + Velox + Spark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383280"/>
            <a:ext cx="329184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86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4930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86CE4"/>
                </a:solidFill>
                <a:latin typeface="Segoe UI"/>
              </a:defRPr>
            </a:pPr>
            <a: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9872" y="388620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130"/>
                </a:solidFill>
                <a:latin typeface="Segoe UI"/>
              </a:defRPr>
            </a:pPr>
            <a:r>
              <a:t>Community Partner</a:t>
            </a:r>
            <a:br/>
            <a:r>
              <a:t>PMC &amp; committer seat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5E5C"/>
                </a:solidFill>
                <a:latin typeface="Segoe UI"/>
              </a:defRPr>
            </a:pPr>
            <a:r>
              <a:t>Our default posture is upstream-first: validate at Fabric scale, contribute fixes in the open, and productize on top of the shared foundation.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5E5C"/>
                </a:solidFill>
                <a:latin typeface="Segoe UI"/>
              </a:defRPr>
            </a:pPr>
            <a:r>
              <a:t>Ref: incubator.apache.org/projects/gluten.html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The Choice We Faced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130"/>
                </a:solidFill>
                <a:latin typeface="Segoe UI"/>
              </a:defRPr>
            </a:pPr>
            <a:r>
              <a:t>Fabric runs Spark at massive scale. We needed dramatic speedups — no application rewrites, no extra cost.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3152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Assessment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Build from scratch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Years of effort, no community leverage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Fork Spark + custom codegen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Diverges from upstream, maintenance burden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Proprietary native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Closed ecosystem, limited upstream leverage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78D4"/>
                          </a:solidFill>
                          <a:latin typeface="Segoe UI"/>
                        </a:defRPr>
                      </a:pPr>
                      <a:r>
                        <a:t>Gluten + Velox  ✓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078D4"/>
                          </a:solidFill>
                          <a:latin typeface="Segoe UI"/>
                        </a:defRPr>
                      </a:pPr>
                      <a:r>
                        <a:t>Meta-proven at exabyte scale, modular plugin architecture, active multi-company community</a:t>
                      </a:r>
                    </a:p>
                  </a:txBody>
                  <a:tcPr>
                    <a:solidFill>
                      <a:srgbClr val="EBF3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206240"/>
            <a:ext cx="10515600" cy="1005840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73152" cy="10058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97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Segoe UI"/>
              </a:rPr>
              <a:t>The flywheel: </a:t>
            </a:r>
            <a:r>
              <a:rPr sz="1300">
                <a:solidFill>
                  <a:srgbClr val="323130"/>
                </a:solidFill>
                <a:latin typeface="Segoe UI"/>
              </a:rPr>
              <a:t>Deploy in production → discover issues at scale → contribute upstream fixes → entire community benefits (including Fabric) → repeat. Both the OSS project and all downstream consumers improve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900000"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886CE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Architecture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D6FA"/>
                </a:solidFill>
                <a:latin typeface="Segoe UI"/>
              </a:defRPr>
            </a:pPr>
            <a:r>
              <a:t>Where Spark ends, Gluten translates, and Velox takes 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6FA"/>
                </a:solidFill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Execution Flow: Spark → Gluten → Velox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00400" cy="1097280"/>
          </a:xfrm>
          <a:prstGeom prst="roundRect">
            <a:avLst/>
          </a:prstGeom>
          <a:solidFill>
            <a:srgbClr val="FAF9F8"/>
          </a:solidFill>
          <a:ln w="254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23130"/>
                </a:solidFill>
                <a:latin typeface="Segoe UI"/>
              </a:defRPr>
            </a:pPr>
            <a:r>
              <a:t>Spark Logical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Catalyst optimizer, AQE,</a:t>
            </a:r>
            <a:br/>
            <a:r>
              <a:t>CBO — unchanged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188720"/>
            <a:ext cx="3200400" cy="1097280"/>
          </a:xfrm>
          <a:prstGeom prst="roundRect">
            <a:avLst/>
          </a:prstGeom>
          <a:solidFill>
            <a:srgbClr val="EBF3FB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2618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23130"/>
                </a:solidFill>
                <a:latin typeface="Segoe UI"/>
              </a:defRPr>
            </a:pPr>
            <a:r>
              <a:t>Gluten Intercept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57276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Physical plan → Substrait</a:t>
            </a:r>
            <a:br/>
            <a:r>
              <a:t>IR via JNI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188720"/>
            <a:ext cx="3200400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2618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23130"/>
                </a:solidFill>
                <a:latin typeface="Segoe UI"/>
              </a:defRPr>
            </a:pPr>
            <a:r>
              <a:t>Velox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1572768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Vectorized C++ • SIMD</a:t>
            </a:r>
            <a:br/>
            <a:r>
              <a:t>Columnar • Off-heap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468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05E5C"/>
                </a:solidFill>
                <a:latin typeface="Segoe UI"/>
              </a:defRPr>
            </a:pPr>
            <a:r>
              <a:t>Spark keeps planning, scheduling, retries, and fault tolerance. Gluten changes the execution path, not the programming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23130"/>
                </a:solidFill>
                <a:latin typeface="Segoe UI"/>
              </a:defRPr>
            </a:pPr>
            <a:r>
              <a:t>Simplified Plan with Fallback Boundary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91840"/>
            <a:ext cx="10515600" cy="2560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383280"/>
            <a:ext cx="10149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23130"/>
                </a:solidFill>
                <a:latin typeface="Cascadia Code"/>
              </a:defRPr>
            </a:pPr>
            <a:r>
              <a:t>== Physical Plan (with Gluten) ==</a:t>
            </a:r>
            <a:br/>
            <a:r>
              <a:t>+- ^(2) ProjectExecTransformer [...]           ← NATIVE: projection</a:t>
            </a:r>
            <a:br/>
            <a:r>
              <a:t>  +- ^(2) ShuffledHashJoinExecTransformer [...]  ← NATIVE: hash join</a:t>
            </a:r>
            <a:br/>
            <a:r>
              <a:t>    :- ColumnarToRowExec                         ← fallback boundary (UnsupportedExpr)</a:t>
            </a:r>
            <a:br/>
            <a:r>
              <a:t>    :  +- ^(1) FilterExecTransformer [...]       ← NATIVE: filter</a:t>
            </a:r>
            <a:br/>
            <a:r>
              <a:t>    :    +- ^(1) NativeFileScan parquet          ← NATIVE: scan with pushdown</a:t>
            </a:r>
            <a:br/>
            <a:r>
              <a:t>    +- ^(0) ColumnarExchange [...]               ← NATIVE: shuffle</a:t>
            </a:r>
            <a:br/>
            <a:r>
              <a:t>      +- ^(0) FilterExecTransformer [...]        ← NATIVE: filter</a:t>
            </a:r>
            <a:br/>
            <a:r>
              <a:t>        +- ^(0) NativeFileScan parquet           ← NATIVE: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8D4"/>
                </a:solidFill>
                <a:latin typeface="Segoe UI"/>
              </a:defRPr>
            </a:pPr>
            <a:r>
              <a:t>Win condition: Keep data columnar end-to-end and minimize ColumnarToRow / RowToColumnar transitions.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900000"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886CE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Production War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D6FA"/>
                </a:solidFill>
                <a:latin typeface="Segoe UI"/>
              </a:defRPr>
            </a:pPr>
            <a:r>
              <a:t>Correctness, memory, and observability lessons from real workloads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6FA"/>
                </a:solidFill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The Memory War: 9 Months to Fix 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13438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130"/>
                </a:solidFill>
                <a:latin typeface="Segoe UI"/>
              </a:defRPr>
            </a:pPr>
            <a:r>
              <a:t>Early 2025: TPC-DS queries that should take 5 minutes crash with OOM after 90 seconds. Spark's JVM on-heap allocator and Velox's off-heap allocator competed for the same 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1828800"/>
          </a:xfrm>
          <a:prstGeom prst="roundRect">
            <a:avLst/>
          </a:prstGeom>
          <a:solidFill>
            <a:srgbClr val="FDF0F0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73152" cy="1828800"/>
          </a:xfrm>
          <a:prstGeom prst="rect">
            <a:avLst/>
          </a:prstGeom>
          <a:solidFill>
            <a:srgbClr val="D13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13438"/>
                </a:solidFill>
                <a:latin typeface="Segoe UI"/>
              </a:defRPr>
            </a:pPr>
            <a:r>
              <a:t>Root Cause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70048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No unified memory accounting across JVM on-heap and Velox off-heap (via jemalloc). Velox allocated eagerly from OS while JVM GC ran under memory pressure, leading to container OOMs before either allocator could react.</a:t>
            </a:r>
            <a:br/>
            <a:br/>
            <a:r>
              <a:t>Symptom: Large aggregations (GROUP BY with 100M+ groups) would OOM at ~60% reported memory — Velox off-heap invisible to Spark's memory manager.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7C10"/>
                </a:solidFill>
                <a:latin typeface="Segoe UI"/>
              </a:defRPr>
            </a:pPr>
            <a:r>
              <a:t>The Fix &amp;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130"/>
                </a:solidFill>
                <a:latin typeface="Segoe UI"/>
              </a:defRPr>
            </a:pPr>
            <a:r>
              <a:t>9 months of engineering: dynamic memory negotiation between JVM and Velox: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323130"/>
                </a:solidFill>
                <a:latin typeface="Segoe UI"/>
              </a:rPr>
              <a:t>Reservation protocol:</a:t>
            </a:r>
            <a:r>
              <a:rPr sz="1100">
                <a:solidFill>
                  <a:srgbClr val="323130"/>
                </a:solidFill>
                <a:latin typeface="Segoe UI"/>
              </a:rPr>
              <a:t> Velox requests quota from Spark's memory manager before allocation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323130"/>
                </a:solidFill>
                <a:latin typeface="Segoe UI"/>
              </a:rPr>
              <a:t>GC pressure signals:</a:t>
            </a:r>
            <a:r>
              <a:rPr sz="1100">
                <a:solidFill>
                  <a:srgbClr val="323130"/>
                </a:solidFill>
                <a:latin typeface="Segoe UI"/>
              </a:rPr>
              <a:t> JVM broadcasts pressure events → triggers Velox spill before OOM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100" b="1">
                <a:solidFill>
                  <a:srgbClr val="323130"/>
                </a:solidFill>
                <a:latin typeface="Segoe UI"/>
              </a:rPr>
              <a:t>Graceful degradation:</a:t>
            </a:r>
            <a:r>
              <a:rPr sz="1100">
                <a:solidFill>
                  <a:srgbClr val="323130"/>
                </a:solidFill>
                <a:latin typeface="Segoe UI"/>
              </a:rPr>
              <a:t> Under contention, Velox spills sorted partitions to SSD with async I/O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246888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3493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  <a:latin typeface="Segoe UI"/>
              </a:defRPr>
            </a:pPr>
            <a:r>
              <a:t>↓ 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3886200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130"/>
                </a:solidFill>
                <a:latin typeface="Segoe UI"/>
              </a:defRPr>
            </a:pPr>
            <a:r>
              <a:t>OOM incidents</a:t>
            </a:r>
            <a:br/>
            <a:r>
              <a:t>(Fabric production telemetry)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160520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05E5C"/>
                </a:solidFill>
                <a:latin typeface="Segoe UI"/>
              </a:defRPr>
            </a:pPr>
            <a:r>
              <a:t>Gluten 1.3.0 + Runtime 1.3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3383280"/>
            <a:ext cx="246888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349300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→ Upstream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34272" y="3886200"/>
            <a:ext cx="2322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130"/>
                </a:solidFill>
                <a:latin typeface="Segoe UI"/>
              </a:defRPr>
            </a:pPr>
            <a:r>
              <a:t>Fabric + Gluten community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34272" y="4160520"/>
            <a:ext cx="23225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05E5C"/>
                </a:solidFill>
                <a:latin typeface="Segoe UI"/>
              </a:defRPr>
            </a:pPr>
            <a:r>
              <a:t>Runtime 1.3 Memory Blog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More Production Lessons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029200"/>
                <a:gridCol w="36576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What Happened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Upstream Fix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Null Semantics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Spark's collect_set includes nulls by default; Velox excluded them → silent correctness bugs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Velox #16416, #16947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Fallback Storms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Single unsupported expression forces ColumnarToRow for entire upstream subtree → slower than pure JVM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Dynamic filter pushdown (Gluten #11657) + Fabric Spark Advisor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Security Boundary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Native scan paths must honor Row-Level &amp; Column-Level Security policies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JNI bridge security enforcement in Fabric NEE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Diagnostics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Native segfaults (SIGSEGV) → no JVM stack trace, opaque crash dumps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Query trace, Fabric Spark Advisor, native crash symbolication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Metrics 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Missing/incomplete metrics for native operators slowed production triage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Gluten #11861 — improved Generate/join/aggregation metrics fidelity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754880"/>
            <a:ext cx="10515600" cy="640080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4754880"/>
            <a:ext cx="73152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23130"/>
                </a:solidFill>
                <a:latin typeface="Segoe UI"/>
              </a:defRPr>
            </a:pPr>
            <a:r>
              <a:t>Every row above became an upstream PR or a Fabric-specific hardening. Production is the fastest test suite in open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900000"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886CE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Upstream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D6FA"/>
                </a:solidFill>
                <a:latin typeface="Segoe UI"/>
              </a:defRPr>
            </a:pPr>
            <a:r>
              <a:t>Recent Microsoft contributions across Gluten, Velox, and Spark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6FA"/>
                </a:solidFill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Contribution Themes: Discovery → Upstream → 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23130"/>
                </a:solidFill>
                <a:latin typeface="Segoe UI"/>
              </a:defRPr>
            </a:pPr>
            <a:r>
              <a:t>Microsoft contributes across Apache Spark, Apache Gluten (PMC seat), and Velox (development partner) alongside Meta, Intel, Kyligence, and other community members.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6576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Theme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Problem Found in Production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Upstream Fix (Exemplar PRs)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🎯 Semantic Parity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Null handling diffs between Spark &amp; Velox broke TPC-DS correctness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Velox: collect_list/collect_set RESPECT NULLS #16328 #16416</a:t>
                      </a:r>
                    </a:p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Gluten: assert_not_null translation #11685</a:t>
                      </a:r>
                    </a:p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Velox: lambda index filter(array,(x,i)→…) #16334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🔄 Fallback Reduction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Excessive ColumnarToRow transitions from unsupported expressions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Gluten: dynamic filter pushdown #11657</a:t>
                      </a:r>
                    </a:p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Gluten: LOGICAL_PLAN_TAG propagation #11833 (150/150 tests)</a:t>
                      </a:r>
                    </a:p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Velox: setConstantInputs aggregate hook #16624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⚡ Performance &amp;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Batch-size limits, spill estimation errors, Spark 4.x readiness 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Velox: removed FlatNoNulls batch-size limit #16607</a:t>
                      </a:r>
                    </a:p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Velox: PrefixSort memory-estimation overflow fix #15789</a:t>
                      </a:r>
                    </a:p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Gluten: Spark 4.x — 8 test suites enabled #11816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📊 Observability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Missing native metrics slowed production triage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Gluten: metrics fidelity for Generate/join/agg #11861</a:t>
                      </a:r>
                    </a:p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Gluten: scan-path formatter reuse #11843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🎓 TLP Graduation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Post-graduation repo cleanup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Gluten: removed incubating refs, CI/release updates #11737–#11742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900000"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886CE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Fabric Native Execution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D6FA"/>
                </a:solidFill>
                <a:latin typeface="Segoe UI"/>
              </a:defRPr>
            </a:pPr>
            <a:r>
              <a:t>Product evidence from Microsoft's Spark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6FA"/>
                </a:solidFill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NEE: Gluten + Velox, Productionized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685800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26187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Fabric Runtime 1.3</a:t>
            </a:r>
            <a:br/>
            <a:r>
              <a:t>Spark 3.5  •  Delta Lake 3.2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47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78D4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029200" cy="685800"/>
          </a:xfrm>
          <a:prstGeom prst="roundRect">
            <a:avLst/>
          </a:prstGeom>
          <a:solidFill>
            <a:srgbClr val="886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NEE — Gluten + Velox (C++)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8072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78D4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08960"/>
            <a:ext cx="5029200" cy="685800"/>
          </a:xfrm>
          <a:prstGeom prst="round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18211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OneLake — Delta / Parquet / CSV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4160520"/>
            <a:ext cx="3474720" cy="365760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1879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78D4"/>
                </a:solidFill>
                <a:latin typeface="Cascadia Code"/>
              </a:defRPr>
            </a:pPr>
            <a:r>
              <a:t>spark.native.enabled =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5E5C"/>
                </a:solidFill>
                <a:latin typeface="Segoe UI"/>
              </a:defRPr>
            </a:pPr>
            <a:r>
              <a:t>Best-fit: heavy joins/aggregations, ETL, interactive notebooks, Delta snapshot loading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5603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8D4"/>
                </a:solidFill>
                <a:latin typeface="Segoe UI"/>
              </a:defRPr>
            </a:pPr>
            <a:r>
              <a:t>~4×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1691640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130"/>
                </a:solidFill>
                <a:latin typeface="Segoe UI"/>
              </a:defRPr>
            </a:pPr>
            <a:r>
              <a:t>TPC-DS SF1000</a:t>
            </a:r>
            <a:br/>
            <a:r>
              <a:t>(geometric mean)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196596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05E5C"/>
                </a:solidFill>
                <a:latin typeface="Segoe UI"/>
              </a:defRPr>
            </a:pPr>
            <a:r>
              <a:t>[Internal Testing, Runtime 1.3]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1188720"/>
            <a:ext cx="25603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2984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7C10"/>
                </a:solidFill>
                <a:latin typeface="Segoe UI"/>
              </a:defRPr>
            </a:pPr>
            <a:r>
              <a:t>Up to 6×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1691640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130"/>
                </a:solidFill>
                <a:latin typeface="Segoe UI"/>
              </a:defRPr>
            </a:pPr>
            <a:r>
              <a:t>End-to-End</a:t>
            </a:r>
            <a:br/>
            <a:r>
              <a:t>(query-specific)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196596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05E5C"/>
                </a:solidFill>
                <a:latin typeface="Segoe UI"/>
              </a:defRPr>
            </a:pPr>
            <a:r>
              <a:t>Ref: GA Blog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017520"/>
            <a:ext cx="25603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86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31272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886CE4"/>
                </a:solidFill>
                <a:latin typeface="Segoe UI"/>
              </a:defRPr>
            </a:pPr>
            <a:r>
              <a:t>~83%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520440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130"/>
                </a:solidFill>
                <a:latin typeface="Segoe UI"/>
              </a:defRPr>
            </a:pPr>
            <a:r>
              <a:t>Cost Savings</a:t>
            </a:r>
            <a:br/>
            <a:r>
              <a:t>(runtime reduction)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379476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05E5C"/>
                </a:solidFill>
                <a:latin typeface="Segoe UI"/>
              </a:defRPr>
            </a:pPr>
            <a:r>
              <a:t>Ref: Under the Hood Blog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017520"/>
            <a:ext cx="25603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312724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8C00"/>
                </a:solidFill>
                <a:latin typeface="Segoe UI"/>
              </a:defRPr>
            </a:pPr>
            <a:r>
              <a:t>Included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3520440"/>
            <a:ext cx="2414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323130"/>
                </a:solidFill>
                <a:latin typeface="Segoe UI"/>
              </a:defRPr>
            </a:pPr>
            <a:r>
              <a:t>In Fabric Runtime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3794760"/>
            <a:ext cx="2414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05E5C"/>
                </a:solidFill>
                <a:latin typeface="Segoe UI"/>
              </a:defRPr>
            </a:pPr>
            <a:r>
              <a:t>Ref: No Extra Cost Blog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Fabric-Specific Extensions on Top of OSS Gluten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658368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How It Works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🔐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Row-Level Security (RLS)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Policy predicates injected at native scan layer before Velox processes rows — enforced via JNI bridge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🔐 Security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Column-Level Security (CLS)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Column masking applied during Substrait plan generation — masked columns never reach Velox in cleartext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🐍 UDF 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Python UDF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Arrow-based columnar transfer via ArrowEvalPython — data stays columnar across JVM↔Python, avoiding Row serialization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🐍 UDF Support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Scala UDF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JNI-bridged execution with native columnar input — supported UDF classes run without ColumnarToRow transition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⚡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Memory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Dynamic reservation/release between JVM &amp; Velox allocators — GC pressure signals trigger native spill before OOM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⚡ Performance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Spill-to-Disk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Optimized off-heap spill: sorted spill with compression, async I/O, graceful degradation under pressure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⚡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Hash Probe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Improved build-side memory layout for cache locality, explicit prefetch hints for probe-side lookups on large joins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Delta &amp; Storage Optimizations + Observability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Delta &amp; Storage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V-Order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Default columnar sorting for optimized analytical reads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Native Delta Write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Direct columnar write from Velox to Delta, bypassing JVM row serialization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Deletion Vectors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Native row-level deletes without rewrite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Z-Order &amp; Liquid Clustering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NEE-optimized data layouts for predicate pushdown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Observability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0876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 b="1">
                <a:solidFill>
                  <a:srgbClr val="323130"/>
                </a:solidFill>
                <a:latin typeface="Segoe UI"/>
              </a:rPr>
              <a:t>Spark Advisor — real-time fallback alerts:</a:t>
            </a:r>
            <a:r>
              <a:rPr sz="1200">
                <a:solidFill>
                  <a:srgbClr val="323130"/>
                </a:solidFill>
                <a:latin typeface="Segoe UI"/>
              </a:rPr>
              <a:t> shows which operator, why, and what to change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23130"/>
                </a:solidFill>
                <a:latin typeface="Segoe UI"/>
              </a:rPr>
              <a:t>Gluten SQL tab — native vs. JVM node visibility in Spark UI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23130"/>
                </a:solidFill>
                <a:latin typeface="Segoe UI"/>
              </a:rPr>
              <a:t>Run Series — before/after NEE performance comparison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23130"/>
                </a:solidFill>
                <a:latin typeface="Segoe UI"/>
              </a:rPr>
              <a:t>NEE Overview — full documentation on Microsoft Learn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200">
                <a:solidFill>
                  <a:srgbClr val="323130"/>
                </a:solidFill>
                <a:latin typeface="Segoe UI"/>
              </a:rPr>
              <a:t>Operator names ending in Transformer / NativeFileScan make native/fallback boundaries explicit in explain()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5E5C"/>
                </a:solidFill>
                <a:latin typeface="Segoe UI"/>
              </a:defRPr>
            </a:pPr>
            <a:r>
              <a:t>Refs: learn.microsoft.com/fabric/data-engineering/spark-advisor-introduction  •  learn.microsoft.com/fabric/data-engineering/native-execution-engine-overview  •  learn.microsoft.com/fabric/data-engineering/delta-optimization-and-v-order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900000"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886CE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Graduation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D6FA"/>
                </a:solidFill>
                <a:latin typeface="Segoe UI"/>
              </a:defRPr>
            </a:pPr>
            <a:r>
              <a:t>From incubation to TLP, reinforced by production adoption and multi-company stewardship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6FA"/>
                </a:solidFill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Gluten's TLP Journey &amp; Lessons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Timeline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600200"/>
            <a:ext cx="137160" cy="1371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9264" y="1737360"/>
            <a:ext cx="27432" cy="457200"/>
          </a:xfrm>
          <a:prstGeom prst="rect">
            <a:avLst/>
          </a:prstGeom>
          <a:solidFill>
            <a:srgbClr val="ED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361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2022 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5361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130"/>
                </a:solidFill>
                <a:latin typeface="Segoe UI"/>
              </a:defRPr>
            </a:pPr>
            <a:r>
              <a:t>Intel &amp; Kyligence create Gluten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194560"/>
            <a:ext cx="137160" cy="1371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9264" y="2331720"/>
            <a:ext cx="27432" cy="457200"/>
          </a:xfrm>
          <a:prstGeom prst="rect">
            <a:avLst/>
          </a:prstGeom>
          <a:solidFill>
            <a:srgbClr val="ED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130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Dec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305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130"/>
                </a:solidFill>
                <a:latin typeface="Segoe UI"/>
              </a:defRPr>
            </a:pPr>
            <a:r>
              <a:t>Entered Apache Incubator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788920"/>
            <a:ext cx="137160" cy="1371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9264" y="2926080"/>
            <a:ext cx="27432" cy="457200"/>
          </a:xfrm>
          <a:prstGeom prst="rect">
            <a:avLst/>
          </a:prstGeom>
          <a:solidFill>
            <a:srgbClr val="ED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724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2024–25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72491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130"/>
                </a:solidFill>
                <a:latin typeface="Segoe UI"/>
              </a:defRPr>
            </a:pPr>
            <a:r>
              <a:t>Microsoft adoption — Fabric NEE in production, upstream contributions begin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3383280"/>
            <a:ext cx="137160" cy="13716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9264" y="3520440"/>
            <a:ext cx="27432" cy="457200"/>
          </a:xfrm>
          <a:prstGeom prst="rect">
            <a:avLst/>
          </a:prstGeom>
          <a:solidFill>
            <a:srgbClr val="ED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319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Jan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3192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130"/>
                </a:solidFill>
                <a:latin typeface="Segoe UI"/>
              </a:defRPr>
            </a:pPr>
            <a:r>
              <a:t>v1.3.0 — OOM ↓ 70%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3977640"/>
            <a:ext cx="137160" cy="137160"/>
          </a:xfrm>
          <a:prstGeom prst="ellipse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913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78D4"/>
                </a:solidFill>
                <a:latin typeface="Segoe UI"/>
              </a:defRPr>
            </a:pPr>
            <a:r>
              <a:t>Feb 18,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91363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23130"/>
                </a:solidFill>
                <a:latin typeface="Segoe UI"/>
              </a:defRPr>
            </a:pPr>
            <a:r>
              <a:t>🎓 Apache TLP — 1,500+ ★, ~194 contributors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Key Lessons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554480"/>
            <a:ext cx="5029200" cy="914400"/>
          </a:xfrm>
          <a:prstGeom prst="roundRect">
            <a:avLst/>
          </a:prstGeom>
          <a:solidFill>
            <a:srgbClr val="FAF9F8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1554480"/>
            <a:ext cx="73152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🏛️ Governance &gt;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9385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ASF demands diverse PMC. Graduation required deliberate multi-company diversification.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651760"/>
            <a:ext cx="5029200" cy="914400"/>
          </a:xfrm>
          <a:prstGeom prst="roundRect">
            <a:avLst/>
          </a:prstGeom>
          <a:solidFill>
            <a:srgbClr val="FAF9F8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2651760"/>
            <a:ext cx="73152" cy="9144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743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Segoe UI"/>
              </a:defRPr>
            </a:pPr>
            <a:r>
              <a:t>🧠 Memory: The Hardest 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0358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JVM vs. native off-heap — 9 months to build dynamic negotiation. OOM dropped 70%.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3749039"/>
            <a:ext cx="5029200" cy="1097280"/>
          </a:xfrm>
          <a:prstGeom prst="roundRect">
            <a:avLst/>
          </a:prstGeom>
          <a:solidFill>
            <a:srgbClr val="FAF9F8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749039"/>
            <a:ext cx="73152" cy="109728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8404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7C10"/>
                </a:solidFill>
                <a:latin typeface="Segoe UI"/>
              </a:defRPr>
            </a:pPr>
            <a:r>
              <a:t>🔄 Production → Upstream → Graduation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133087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Microsoft's role: production-scale validation, upstream fixes, and active participation in community governance — not a downstream fork strategy.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5E5C"/>
                </a:solidFill>
                <a:latin typeface="Segoe UI"/>
              </a:defRPr>
            </a:pPr>
            <a:r>
              <a:t>Ref: incubator.apache.org/projects/gluten.html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2026 Roadmap &amp; Microsoft Focus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Gluten Community Roadmap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914400"/>
                <a:gridCol w="356616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Q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Highlights</a:t>
                      </a:r>
                    </a:p>
                  </a:txBody>
                  <a:tcPr>
                    <a:solidFill>
                      <a:srgbClr val="0078D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Q1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1.6.0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Post-grad cleanup, Spark 4.0 beta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1.7.0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Multi-core, PySpark UDF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1.8.0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Flink PoC, GPU exploration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Q4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2.0.0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23130"/>
                          </a:solidFill>
                          <a:latin typeface="Segoe UI"/>
                        </a:defRPr>
                      </a:pPr>
                      <a:r>
                        <a:t>Spark 4.0 GA, new backends</a:t>
                      </a:r>
                    </a:p>
                  </a:txBody>
                  <a:tcPr>
                    <a:solidFill>
                      <a:srgbClr val="FAF9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657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5E5C"/>
                </a:solidFill>
                <a:latin typeface="Segoe UI"/>
              </a:defRPr>
            </a:pPr>
            <a:r>
              <a:t>Ref: github.com/apache/gluten/issues/11827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9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8D4"/>
                </a:solidFill>
                <a:latin typeface="Segoe UI"/>
              </a:defRPr>
            </a:pPr>
            <a:r>
              <a:t>Microsoft Focus Areas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029200" cy="822960"/>
          </a:xfrm>
          <a:prstGeom prst="roundRect">
            <a:avLst/>
          </a:prstGeom>
          <a:solidFill>
            <a:srgbClr val="FAF9F8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73152" cy="8229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🔧 Spark Compatibility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385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Spark 4.x semantic parity, ANSI mode, TIMESTAMP_NTZ, function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560320"/>
            <a:ext cx="5029200" cy="822960"/>
          </a:xfrm>
          <a:prstGeom prst="roundRect">
            <a:avLst/>
          </a:prstGeom>
          <a:solidFill>
            <a:srgbClr val="FAF9F8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560320"/>
            <a:ext cx="73152" cy="8229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7C10"/>
                </a:solidFill>
                <a:latin typeface="Segoe UI"/>
              </a:defRPr>
            </a:pPr>
            <a:r>
              <a:t>⚡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443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Dynamic filters, bloom-filter pushdown, join optimization, memory &amp; spill robustness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66160"/>
            <a:ext cx="5029200" cy="822960"/>
          </a:xfrm>
          <a:prstGeom prst="roundRect">
            <a:avLst/>
          </a:prstGeom>
          <a:solidFill>
            <a:srgbClr val="FAF9F8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566160"/>
            <a:ext cx="73152" cy="822960"/>
          </a:xfrm>
          <a:prstGeom prst="rect">
            <a:avLst/>
          </a:prstGeom>
          <a:solidFill>
            <a:srgbClr val="886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657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6CE4"/>
                </a:solidFill>
                <a:latin typeface="Segoe UI"/>
              </a:defRPr>
            </a:pPr>
            <a:r>
              <a:t>🏢 Enterprise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9502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Structured Streaming, complex types (array/map/struct), semi-structured data (JSON variant shredding)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63440"/>
            <a:ext cx="10515600" cy="731520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663440"/>
            <a:ext cx="73152" cy="7315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23130"/>
                </a:solidFill>
                <a:latin typeface="Segoe UI"/>
              </a:defRPr>
            </a:pPr>
            <a:r>
              <a:t>Every Spark function Velox implements unlocks more native execution paths for Fabric and the broader community. Microsoft is investing in Spark-Velox integration as a key pillar of our analytical compute strategy.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900000"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886CE4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 Light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Call for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D6FA"/>
                </a:solidFill>
                <a:latin typeface="Segoe UI"/>
              </a:defRPr>
            </a:pPr>
            <a:r>
              <a:t>Production workloads accelerate open-source maturity.</a:t>
            </a:r>
            <a:br/>
            <a:r>
              <a:t>We'd love to collaborate with the community on Velox and Gluten.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D6FA"/>
                </a:solidFill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23130"/>
                </a:solidFill>
                <a:latin typeface="Segoe UI Semibold"/>
              </a:defRPr>
            </a:pPr>
            <a:r>
              <a:t>Join the Community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097280" cy="5486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23130"/>
                </a:solidFill>
                <a:latin typeface="Segoe UI"/>
              </a:defRPr>
            </a:pPr>
            <a:r>
              <a:t>Gluten and Velox thrive on diverse contributors. Here's how to get involved: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1280160"/>
          </a:xfrm>
          <a:prstGeom prst="roundRect">
            <a:avLst/>
          </a:prstGeom>
          <a:solidFill>
            <a:srgbClr val="FAF9F8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73152" cy="128016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8D4"/>
                </a:solidFill>
                <a:latin typeface="Segoe UI"/>
              </a:defRPr>
            </a:pPr>
            <a:r>
              <a:t>💻 Contribute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Pick up a help-wanted issue on Gluten or Velox. Spark function coverage and expression parity are great starting 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1280160"/>
          </a:xfrm>
          <a:prstGeom prst="roundRect">
            <a:avLst/>
          </a:prstGeom>
          <a:solidFill>
            <a:srgbClr val="FAF9F8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73152" cy="1280160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45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7C10"/>
                </a:solidFill>
                <a:latin typeface="Segoe UI"/>
              </a:defRPr>
            </a:pPr>
            <a:r>
              <a:t>🧪 Test &amp; 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3852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Run Gluten on your workloads. File issues with explain() output and Velox error messages — production edge cases are the most valuable contributions.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08960"/>
            <a:ext cx="5212080" cy="1280160"/>
          </a:xfrm>
          <a:prstGeom prst="roundRect">
            <a:avLst/>
          </a:prstGeom>
          <a:solidFill>
            <a:srgbClr val="FAF9F8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108960"/>
            <a:ext cx="73152" cy="1280160"/>
          </a:xfrm>
          <a:prstGeom prst="rect">
            <a:avLst/>
          </a:prstGeom>
          <a:solidFill>
            <a:srgbClr val="886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0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6CE4"/>
                </a:solidFill>
                <a:latin typeface="Segoe UI"/>
              </a:defRPr>
            </a:pPr>
            <a:r>
              <a:t>📖 Improve Documentation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9300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Configuration guides, fallback analysis tutorials, and migration recipes are always needed. Docs PRs welcome at apache/gluten.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5212080" cy="1280160"/>
          </a:xfrm>
          <a:prstGeom prst="roundRect">
            <a:avLst/>
          </a:prstGeom>
          <a:solidFill>
            <a:srgbClr val="FAF9F8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108960"/>
            <a:ext cx="73152" cy="1280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00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Segoe UI"/>
              </a:defRPr>
            </a:pPr>
            <a:r>
              <a:t>🔌 Integrate &amp; Extend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93008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05E5C"/>
                </a:solidFill>
                <a:latin typeface="Segoe UI"/>
              </a:defRPr>
            </a:pPr>
            <a:r>
              <a:t>Build new backends, connect to your storage layer, or prototype Flink/Streaming integrations. The plugin architecture is designed for extensibility.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46320"/>
            <a:ext cx="10515600" cy="640080"/>
          </a:xfrm>
          <a:prstGeom prst="round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846320"/>
            <a:ext cx="73152" cy="6400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8D4"/>
                </a:solidFill>
                <a:latin typeface="Segoe UI"/>
              </a:defRPr>
            </a:pPr>
            <a:r>
              <a:t>Bring us your hardest Spark-on-Velox edge cases — we want those feedback loops in the open.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05E5C"/>
                </a:solidFill>
                <a:latin typeface="Segoe UI"/>
              </a:defRPr>
            </a:pPr>
            <a:r>
              <a:t>github.com/apache/gluten  •  github.com/facebookincubator/velox  •  learn.microsoft.com/fabric/data-engineering/native-execution-engine-overview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605E5C"/>
                </a:solidFill>
              </a:defRPr>
            </a:pPr>
            <a:r>
              <a:t>VeloxCon 2026  •  April 30  •  Meta HQ, Menlo Park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0080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05E5C"/>
                </a:solidFill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18900000"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78D4"/>
              </a:gs>
              <a:gs pos="100000">
                <a:srgbClr val="003D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94960" y="731520"/>
            <a:ext cx="231343" cy="231343"/>
          </a:xfrm>
          <a:prstGeom prst="rect">
            <a:avLst/>
          </a:prstGeom>
          <a:solidFill>
            <a:srgbClr val="F25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6536" y="731520"/>
            <a:ext cx="231343" cy="231343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394960" y="1003096"/>
            <a:ext cx="231343" cy="231343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6536" y="1003096"/>
            <a:ext cx="231343" cy="231343"/>
          </a:xfrm>
          <a:prstGeom prst="rect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89320" y="7498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Microsoft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 Semibold"/>
              </a:defRPr>
            </a:pPr>
            <a:r>
              <a:t>Thank You &amp; Q&amp;A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D6FA"/>
                </a:solidFill>
                <a:latin typeface="Segoe UI"/>
              </a:defRPr>
            </a:pPr>
            <a:r>
              <a:t>From Apache Incubator to Top-Level Project:</a:t>
            </a:r>
            <a:br/>
            <a:r>
              <a:t>The Apache Gluten Journey with Velox at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0175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William Chen  •  Apache Gluten PMC Member  •  Microsoft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33756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D6FA"/>
                </a:solidFill>
                <a:latin typeface="Segoe UI"/>
              </a:defRPr>
            </a:pPr>
            <a:r>
              <a:t>📧  williamchen@microsoft.com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749039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Ajith Shetty  •  Microsoft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06908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D6FA"/>
                </a:solidFill>
                <a:latin typeface="Segoe UI"/>
              </a:defRPr>
            </a:pPr>
            <a:r>
              <a:t>📧  ajithshetty@microsoft.com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66344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C8FF"/>
                </a:solidFill>
                <a:latin typeface="Segoe UI"/>
              </a:defRPr>
            </a:pPr>
            <a:r>
              <a:t>🔗  github.com/apache/gluten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937759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C8FF"/>
                </a:solidFill>
                <a:latin typeface="Segoe UI"/>
              </a:defRPr>
            </a:pPr>
            <a:r>
              <a:t>🔗  github.com/facebookincubator/velox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212079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EC8FF"/>
                </a:solidFill>
                <a:latin typeface="Segoe UI"/>
              </a:defRPr>
            </a:pPr>
            <a:r>
              <a:t>🔗  learn.microsoft.com/fabric/data-engineering/native-execution-engine-overview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57784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4D6FA"/>
                </a:solidFill>
                <a:latin typeface="Segoe UI"/>
              </a:defRPr>
            </a:pPr>
            <a:r>
              <a:t>Our commitment: upstream first, product at scale, and a stronger shared Velox ecosystem for everyone.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621792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EC8FF"/>
                </a:solidFill>
                <a:latin typeface="Segoe UI"/>
              </a:defRPr>
            </a:pPr>
            <a:r>
              <a:t>VeloxCon 2026  •  April 30  •  Meta HQ, Menlo Park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