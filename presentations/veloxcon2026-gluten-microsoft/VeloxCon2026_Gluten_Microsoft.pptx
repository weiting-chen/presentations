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telling the story of Apache Gluten's journey to TLP, centered on production lessons at Fabric scale. Yuan Zhou covers community growth later today; we focus on how real production users drive upstream innovation. By the end, you'll understand the architecture, the problems production exposed, and how you can get involved.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February 2026 is significant: Gluten became an ASF Top-Level Project. But here's what made graduation possible — production deployment at scale. Scale is the fastest feedback loop. At thousands of concurrent queries, we discover memory bugs, semantic gaps, and performance bottlenecks that synthetic benchmarks miss. We committed to upstream-first: every fix goes to Gluten and Velox first, and Fabric productizes on top of shared foundations. This is not a fork strategy — it's a partnership.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had four paths. Gluten was already Meta-proven at exabyte scale, with modular backends and a growing multi-company community. The deciding factor: we could be a production user AND a contributor. The flywheel on this slide is not aspirational — it's what's actually happening. Fabric finds a bug, we upstream a fix, the entire community benefits.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Spark's Catalyst optimizer, CBO, AQE — all unchanged. Gluten intercepts the optimized plan, translates it to Substrait IR, and hands it to Velox via JNI. Velox runs vectorized C++ operators. The plan example shows a real fallback boundary: ColumnarToRowExec marks where Velox cannot handle an expression, so data goes back to JVM. Minimizing those transitions is the key optimization goal.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story that illustrates why Gluten needed production feedback. January 2025: TPC-DS queries crashed with OOM despite available memory. The root cause was subtle: Velox's MmapAllocator and JVM GC competed independently for the same container memory. We spent 9 months building a cooperative memory arbitration protocol. The result: OOM incidents dropped 70% in Fabric production telemetry. This fix went upstream in Gluten 1.3.0 and now benefits every Gluten user.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bug or gap discovered at Fabric scale. Null semantics: Velox's collect_set excluded nulls by default while Spark includes them — TPC-DS silently returned wrong results. Fallback storms: a single unsupported UDF could force the entire upstream subtree back to JVM — worse than not using Gluten at all. Security: native scans must honor RLS/CLS policies. Every row became an upstream PR within months.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themes of Microsoft's upstream contributions. Semantic parity was critical: null handling, lambda indices, array functions — Velox and Spark had subtle differences that broke correctness. Fallback reduction: we invested in dynamic filter pushdown and logical plan propagation to keep data columnar. Performance: removed batch-size limits, fixed memory-estimation overflows, enabled Spark 4.x. The pattern: find it in production, upstream the fix, entire community benefits.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evidence. Fabric Runtime 1.3 is Spark 3.5 + Delta 3.2, with Gluten and Velox built in. NEE is best for CPU-bound queries: heavy joins, aggregations, ETL. Not every query benefits. The 4x is geometric mean on TPC-DS SF1000 — synthetic benchmark. Up to 6x on specific ETL queries. 83% is runtime reduction, not billing reduction. Critically: no extra cost for customers. Be explicit that gains depend on workload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extends OSS Gluten with enterprise features. Row-level and column-level security: policies injected at the native scan layer so Velox never sees data it shouldn't. Python and Scala UDFs: Arrow-based columnar transfer avoids Row serialization. Memory management: the cooperative arbitration protocol we discussed earlier. Spill-to-disk with sorted partitions and async I/O. Hash probe optimization for cache locality. These are Fabric-specific hardening, not upstreamed — but built on top of OSS Gluten and Velox.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added three key observability tools. Spark Advisor shows which operators fall back to JVM and why — no need to manually parse explain() output. Gluten SQL tab in Spark UI shows native vs. JVM nodes side-by-side. Run Series compares before/after NEE performance. V-Order is Fabric's default columnar sort. Native Delta writes bypass Row serialization. These complete the production-readiness picture.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 and Kyligence created Gluten in 2022. Microsoft adopted it for Fabric NEE in 2024-25, started upstream contributions. Key lessons: Governance comes before code — ASF graduation required a diverse PMC. Memory was the hardest problem — 9-month collaboration. Our strategy was never to fork; it was to find problems at scale and upstream fixes.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Community roadmap: Q1 cleanup, Q2 multi-core and PySpark UDFs, Q3 Flink PoC and GPU exploration, Q4 Spark 4.0 GA. Microsoft's focus: Spark 4.x parity, ANSI mode, performance (dynamic filters, bloom-filter pushdown), and enterprise features (Structured Streaming, complex types). Every function we upstream benefits the entire community. If you're using Spark 4.0 or Structured Streaming, join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contribute. Code: add a missing Spark function to Velox — approx_percentile, avg_if, etc. It unblocks execution for thousands of users. Testing: run Gluten on your workloads, file issues with explain() output. Docs: configuration guides, migration recipes. Integrate: new backends, Flink prototypes, storage connectors. We want your hardest edge cases in the 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003D6B"/>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94960" y="1097280"/>
            <a:ext cx="231343" cy="231343"/>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6536" y="1097280"/>
            <a:ext cx="231343" cy="231343"/>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94960" y="1368856"/>
            <a:ext cx="231343" cy="231343"/>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6536" y="1368856"/>
            <a:ext cx="231343" cy="231343"/>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89320" y="1115568"/>
            <a:ext cx="1828800" cy="502920"/>
          </a:xfrm>
          <a:prstGeom prst="rect">
            <a:avLst/>
          </a:prstGeom>
          <a:noFill/>
        </p:spPr>
        <p:txBody>
          <a:bodyPr wrap="square">
            <a:spAutoFit/>
          </a:bodyPr>
          <a:lstStyle/>
          <a:p>
            <a:pPr algn="l">
              <a:spcAft>
                <a:spcPts val="200"/>
              </a:spcAft>
              <a:defRPr sz="2200" b="1">
                <a:solidFill>
                  <a:srgbClr val="FFFFFF"/>
                </a:solidFill>
                <a:latin typeface="Segoe UI"/>
              </a:defRPr>
            </a:pPr>
            <a:r>
              <a:t>Microsoft</a:t>
            </a:r>
          </a:p>
        </p:txBody>
      </p:sp>
      <p:sp>
        <p:nvSpPr>
          <p:cNvPr id="8" name="TextBox 7"/>
          <p:cNvSpPr txBox="1"/>
          <p:nvPr/>
        </p:nvSpPr>
        <p:spPr>
          <a:xfrm>
            <a:off x="1371600" y="2011680"/>
            <a:ext cx="9418320" cy="1097280"/>
          </a:xfrm>
          <a:prstGeom prst="rect">
            <a:avLst/>
          </a:prstGeom>
          <a:noFill/>
        </p:spPr>
        <p:txBody>
          <a:bodyPr wrap="square">
            <a:spAutoFit/>
          </a:bodyPr>
          <a:lstStyle/>
          <a:p>
            <a:pPr algn="ctr">
              <a:spcAft>
                <a:spcPts val="200"/>
              </a:spcAft>
              <a:defRPr sz="4000" b="1">
                <a:solidFill>
                  <a:srgbClr val="FFFFFF"/>
                </a:solidFill>
                <a:latin typeface="Segoe UI Semibold"/>
              </a:defRPr>
            </a:pPr>
            <a:r>
              <a:t>From Apache Incubator to</a:t>
            </a:r>
            <a:br/>
            <a:r>
              <a:t>Top-Level Project</a:t>
            </a:r>
          </a:p>
        </p:txBody>
      </p:sp>
      <p:sp>
        <p:nvSpPr>
          <p:cNvPr id="9" name="TextBox 8"/>
          <p:cNvSpPr txBox="1"/>
          <p:nvPr/>
        </p:nvSpPr>
        <p:spPr>
          <a:xfrm>
            <a:off x="1371600" y="3200400"/>
            <a:ext cx="9418320" cy="457200"/>
          </a:xfrm>
          <a:prstGeom prst="rect">
            <a:avLst/>
          </a:prstGeom>
          <a:noFill/>
        </p:spPr>
        <p:txBody>
          <a:bodyPr wrap="square">
            <a:spAutoFit/>
          </a:bodyPr>
          <a:lstStyle/>
          <a:p>
            <a:pPr algn="ctr">
              <a:spcAft>
                <a:spcPts val="200"/>
              </a:spcAft>
              <a:defRPr sz="2200" b="0">
                <a:solidFill>
                  <a:srgbClr val="B4D6FA"/>
                </a:solidFill>
                <a:latin typeface="Segoe UI"/>
              </a:defRPr>
            </a:pPr>
            <a:r>
              <a:t>The Apache Gluten Journey with Velox at Microsoft</a:t>
            </a:r>
          </a:p>
        </p:txBody>
      </p:sp>
      <p:sp>
        <p:nvSpPr>
          <p:cNvPr id="10" name="TextBox 9"/>
          <p:cNvSpPr txBox="1"/>
          <p:nvPr/>
        </p:nvSpPr>
        <p:spPr>
          <a:xfrm>
            <a:off x="1371600" y="3840480"/>
            <a:ext cx="9418320" cy="457200"/>
          </a:xfrm>
          <a:prstGeom prst="rect">
            <a:avLst/>
          </a:prstGeom>
          <a:noFill/>
        </p:spPr>
        <p:txBody>
          <a:bodyPr wrap="square">
            <a:spAutoFit/>
          </a:bodyPr>
          <a:lstStyle/>
          <a:p>
            <a:pPr algn="ctr">
              <a:spcAft>
                <a:spcPts val="200"/>
              </a:spcAft>
              <a:defRPr sz="1400" b="0">
                <a:solidFill>
                  <a:srgbClr val="8EC8FF"/>
                </a:solidFill>
                <a:latin typeface="Segoe UI"/>
              </a:defRPr>
            </a:pPr>
            <a:r>
              <a:t>Production lessons from Fabric NEE — and the upstream contributions they drove in Gluten and Velox</a:t>
            </a:r>
          </a:p>
        </p:txBody>
      </p:sp>
      <p:sp>
        <p:nvSpPr>
          <p:cNvPr id="11" name="TextBox 10"/>
          <p:cNvSpPr txBox="1"/>
          <p:nvPr/>
        </p:nvSpPr>
        <p:spPr>
          <a:xfrm>
            <a:off x="1371600" y="4754880"/>
            <a:ext cx="9418320" cy="365760"/>
          </a:xfrm>
          <a:prstGeom prst="rect">
            <a:avLst/>
          </a:prstGeom>
          <a:noFill/>
        </p:spPr>
        <p:txBody>
          <a:bodyPr wrap="square">
            <a:spAutoFit/>
          </a:bodyPr>
          <a:lstStyle/>
          <a:p>
            <a:pPr algn="ctr">
              <a:spcAft>
                <a:spcPts val="200"/>
              </a:spcAft>
              <a:defRPr sz="1600" b="0">
                <a:solidFill>
                  <a:srgbClr val="FFFFFF"/>
                </a:solidFill>
                <a:latin typeface="Segoe UI"/>
              </a:defRPr>
            </a:pPr>
            <a:r>
              <a:t>William Chen  &amp;  Ajith Shetty  |  Microsoft  |  VeloxCon 2026</a:t>
            </a:r>
          </a:p>
        </p:txBody>
      </p:sp>
      <p:sp>
        <p:nvSpPr>
          <p:cNvPr id="12" name="TextBox 11"/>
          <p:cNvSpPr txBox="1"/>
          <p:nvPr/>
        </p:nvSpPr>
        <p:spPr>
          <a:xfrm>
            <a:off x="1371600" y="5166360"/>
            <a:ext cx="9418320" cy="274320"/>
          </a:xfrm>
          <a:prstGeom prst="rect">
            <a:avLst/>
          </a:prstGeom>
          <a:noFill/>
        </p:spPr>
        <p:txBody>
          <a:bodyPr wrap="square">
            <a:spAutoFit/>
          </a:bodyPr>
          <a:lstStyle/>
          <a:p>
            <a:pPr algn="ctr">
              <a:spcAft>
                <a:spcPts val="200"/>
              </a:spcAft>
              <a:defRPr sz="1200" b="0">
                <a:solidFill>
                  <a:srgbClr val="8EC8FF"/>
                </a:solidFill>
                <a:latin typeface="Segoe UI"/>
              </a:defRPr>
            </a:pPr>
            <a:r>
              <a:t>April 30, 2026  |  Meta HQ, Menlo Park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Agenda</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058400" cy="3200400"/>
          </a:xfrm>
          <a:prstGeom prst="rect">
            <a:avLst/>
          </a:prstGeom>
          <a:noFill/>
        </p:spPr>
        <p:txBody>
          <a:bodyPr wrap="square">
            <a:spAutoFit/>
          </a:bodyPr>
          <a:lstStyle/>
          <a:p>
            <a:pPr>
              <a:spcAft>
                <a:spcPts val="800"/>
              </a:spcAft>
            </a:pPr>
            <a:r>
              <a:rPr sz="1500" b="1">
                <a:solidFill>
                  <a:srgbClr val="0078D4"/>
                </a:solidFill>
                <a:latin typeface="Segoe UI"/>
              </a:rPr>
              <a:t>01</a:t>
            </a:r>
            <a:r>
              <a:rPr sz="1500">
                <a:solidFill>
                  <a:srgbClr val="323130"/>
                </a:solidFill>
                <a:latin typeface="Segoe UI"/>
              </a:rPr>
              <a:t>  Why This Moment Matters — Gluten TLP &amp; Microsoft's engineering commitment</a:t>
            </a:r>
          </a:p>
          <a:p>
            <a:pPr>
              <a:spcAft>
                <a:spcPts val="800"/>
              </a:spcAft>
            </a:pPr>
            <a:r>
              <a:rPr sz="1500" b="1">
                <a:solidFill>
                  <a:srgbClr val="0078D4"/>
                </a:solidFill>
                <a:latin typeface="Segoe UI"/>
              </a:rPr>
              <a:t>02</a:t>
            </a:r>
            <a:r>
              <a:rPr sz="1500">
                <a:solidFill>
                  <a:srgbClr val="323130"/>
                </a:solidFill>
                <a:latin typeface="Segoe UI"/>
              </a:rPr>
              <a:t>  Architecture in Practice — Where Spark ends, Gluten translates, Velox executes</a:t>
            </a:r>
          </a:p>
          <a:p>
            <a:pPr>
              <a:spcAft>
                <a:spcPts val="800"/>
              </a:spcAft>
            </a:pPr>
            <a:r>
              <a:rPr sz="1500" b="1">
                <a:solidFill>
                  <a:srgbClr val="0078D4"/>
                </a:solidFill>
                <a:latin typeface="Segoe UI"/>
              </a:rPr>
              <a:t>03</a:t>
            </a:r>
            <a:r>
              <a:rPr sz="1500">
                <a:solidFill>
                  <a:srgbClr val="323130"/>
                </a:solidFill>
                <a:latin typeface="Segoe UI"/>
              </a:rPr>
              <a:t>  Production Lessons — What Fabric-scale workloads exposed, what the community upstreamed</a:t>
            </a:r>
          </a:p>
          <a:p>
            <a:pPr>
              <a:spcAft>
                <a:spcPts val="800"/>
              </a:spcAft>
            </a:pPr>
            <a:r>
              <a:rPr sz="1500" b="1">
                <a:solidFill>
                  <a:srgbClr val="0078D4"/>
                </a:solidFill>
                <a:latin typeface="Segoe UI"/>
              </a:rPr>
              <a:t>04</a:t>
            </a:r>
            <a:r>
              <a:rPr sz="1500">
                <a:solidFill>
                  <a:srgbClr val="323130"/>
                </a:solidFill>
                <a:latin typeface="Segoe UI"/>
              </a:rPr>
              <a:t>  Upstream Contributions — Semantic parity, fallback reduction, performance</a:t>
            </a:r>
          </a:p>
          <a:p>
            <a:pPr>
              <a:spcAft>
                <a:spcPts val="800"/>
              </a:spcAft>
            </a:pPr>
            <a:r>
              <a:rPr sz="1500" b="1">
                <a:solidFill>
                  <a:srgbClr val="0078D4"/>
                </a:solidFill>
                <a:latin typeface="Segoe UI"/>
              </a:rPr>
              <a:t>05</a:t>
            </a:r>
            <a:r>
              <a:rPr sz="1500">
                <a:solidFill>
                  <a:srgbClr val="323130"/>
                </a:solidFill>
                <a:latin typeface="Segoe UI"/>
              </a:rPr>
              <a:t>  Fabric NEE — Productionizing Gluten + Velox in Microsoft Fabric</a:t>
            </a:r>
          </a:p>
          <a:p>
            <a:pPr>
              <a:spcAft>
                <a:spcPts val="800"/>
              </a:spcAft>
            </a:pPr>
            <a:r>
              <a:rPr sz="1500" b="1">
                <a:solidFill>
                  <a:srgbClr val="0078D4"/>
                </a:solidFill>
                <a:latin typeface="Segoe UI"/>
              </a:rPr>
              <a:t>06</a:t>
            </a:r>
            <a:r>
              <a:rPr sz="1500">
                <a:solidFill>
                  <a:srgbClr val="323130"/>
                </a:solidFill>
                <a:latin typeface="Segoe UI"/>
              </a:rPr>
              <a:t>  Graduation &amp; Roadmap — TLP lessons &amp; 2026 outlook</a:t>
            </a:r>
          </a:p>
          <a:p>
            <a:pPr>
              <a:spcAft>
                <a:spcPts val="800"/>
              </a:spcAft>
            </a:pPr>
            <a:r>
              <a:rPr sz="1500" b="1">
                <a:solidFill>
                  <a:srgbClr val="0078D4"/>
                </a:solidFill>
                <a:latin typeface="Segoe UI"/>
              </a:rPr>
              <a:t>07</a:t>
            </a:r>
            <a:r>
              <a:rPr sz="1500">
                <a:solidFill>
                  <a:srgbClr val="323130"/>
                </a:solidFill>
                <a:latin typeface="Segoe UI"/>
              </a:rPr>
              <a:t>  Call for Action</a:t>
            </a:r>
          </a:p>
        </p:txBody>
      </p:sp>
      <p:sp>
        <p:nvSpPr>
          <p:cNvPr id="5" name="Rounded Rectangle 4"/>
          <p:cNvSpPr/>
          <p:nvPr/>
        </p:nvSpPr>
        <p:spPr>
          <a:xfrm>
            <a:off x="731520" y="4754880"/>
            <a:ext cx="10515600" cy="82296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846320"/>
            <a:ext cx="10149840" cy="640080"/>
          </a:xfrm>
          <a:prstGeom prst="rect">
            <a:avLst/>
          </a:prstGeom>
          <a:noFill/>
        </p:spPr>
        <p:txBody>
          <a:bodyPr wrap="square">
            <a:spAutoFit/>
          </a:bodyPr>
          <a:lstStyle/>
          <a:p>
            <a:pPr algn="l">
              <a:spcAft>
                <a:spcPts val="200"/>
              </a:spcAft>
              <a:defRPr sz="1200" b="0">
                <a:solidFill>
                  <a:srgbClr val="323130"/>
                </a:solidFill>
                <a:latin typeface="Segoe UI"/>
              </a:defRPr>
            </a:pPr>
            <a:r>
              <a:t>Context: Yuan Zhou's session (1:40 PM) covers Gluten's community growth and ecosystem broadly. This talk focuses on production lessons at Fabric scale — and how those lessons upstream to Gluten, Velox, and Spark.</a:t>
            </a:r>
          </a:p>
        </p:txBody>
      </p:sp>
      <p:sp>
        <p:nvSpPr>
          <p:cNvPr id="7" name="TextBox 6"/>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8" name="TextBox 7"/>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01</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Why This Moment Matters</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Production validation as a force multiplier for open-source maturity</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Why This Moment Matters</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097280"/>
            <a:ext cx="10515600" cy="548640"/>
          </a:xfrm>
          <a:prstGeom prst="roundRect">
            <a:avLst/>
          </a:prstGeom>
          <a:solidFill>
            <a:srgbClr val="E8F5E9"/>
          </a:solidFill>
          <a:ln w="1905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170432"/>
            <a:ext cx="10149840" cy="365760"/>
          </a:xfrm>
          <a:prstGeom prst="rect">
            <a:avLst/>
          </a:prstGeom>
          <a:noFill/>
        </p:spPr>
        <p:txBody>
          <a:bodyPr wrap="square">
            <a:spAutoFit/>
          </a:bodyPr>
          <a:lstStyle/>
          <a:p>
            <a:pPr algn="l">
              <a:spcAft>
                <a:spcPts val="200"/>
              </a:spcAft>
              <a:defRPr sz="1500" b="1">
                <a:solidFill>
                  <a:srgbClr val="323130"/>
                </a:solidFill>
                <a:latin typeface="Segoe UI"/>
              </a:defRPr>
            </a:pPr>
            <a:r>
              <a:t>February 18, 2026 — Apache Gluten graduated to an ASF Top-Level Project.</a:t>
            </a:r>
          </a:p>
        </p:txBody>
      </p:sp>
      <p:sp>
        <p:nvSpPr>
          <p:cNvPr id="6" name="Rounded Rectangle 5"/>
          <p:cNvSpPr/>
          <p:nvPr/>
        </p:nvSpPr>
        <p:spPr>
          <a:xfrm>
            <a:off x="731520" y="1828800"/>
            <a:ext cx="10515600" cy="118872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73152" cy="1188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01952"/>
            <a:ext cx="10241280" cy="1051560"/>
          </a:xfrm>
          <a:prstGeom prst="rect">
            <a:avLst/>
          </a:prstGeom>
          <a:noFill/>
        </p:spPr>
        <p:txBody>
          <a:bodyPr wrap="square">
            <a:spAutoFit/>
          </a:bodyPr>
          <a:lstStyle/>
          <a:p>
            <a:r>
              <a:rPr sz="1300" b="1">
                <a:solidFill>
                  <a:srgbClr val="0078D4"/>
                </a:solidFill>
                <a:latin typeface="Segoe UI"/>
              </a:rPr>
              <a:t>Hypothesis: </a:t>
            </a:r>
            <a:r>
              <a:rPr sz="1300">
                <a:solidFill>
                  <a:srgbClr val="323130"/>
                </a:solidFill>
                <a:latin typeface="Segoe UI"/>
              </a:rPr>
              <a:t>Production feedback loops accelerate open-source maturity. At Fabric scale, we discover semantic gaps, edge-case bugs, and performance bottlenecks faster than synthetic benchmarks — and upstream fixes within sprints. This production-to-upstream cycle helped Gluten reach TLP graduation.</a:t>
            </a:r>
          </a:p>
        </p:txBody>
      </p:sp>
      <p:sp>
        <p:nvSpPr>
          <p:cNvPr id="9" name="Rounded Rectangle 8"/>
          <p:cNvSpPr/>
          <p:nvPr/>
        </p:nvSpPr>
        <p:spPr>
          <a:xfrm>
            <a:off x="731520" y="3291840"/>
            <a:ext cx="3291840" cy="1005840"/>
          </a:xfrm>
          <a:prstGeom prst="roundRect">
            <a:avLst/>
          </a:prstGeom>
          <a:solidFill>
            <a:srgbClr val="FFFFFF"/>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401568"/>
            <a:ext cx="3291840" cy="411480"/>
          </a:xfrm>
          <a:prstGeom prst="rect">
            <a:avLst/>
          </a:prstGeom>
          <a:noFill/>
        </p:spPr>
        <p:txBody>
          <a:bodyPr wrap="square">
            <a:spAutoFit/>
          </a:bodyPr>
          <a:lstStyle/>
          <a:p>
            <a:pPr algn="ctr">
              <a:spcAft>
                <a:spcPts val="200"/>
              </a:spcAft>
              <a:defRPr sz="2800" b="1">
                <a:solidFill>
                  <a:srgbClr val="0078D4"/>
                </a:solidFill>
                <a:latin typeface="Segoe UI"/>
              </a:defRPr>
            </a:pPr>
            <a:r>
              <a:t>Production User</a:t>
            </a:r>
          </a:p>
        </p:txBody>
      </p:sp>
      <p:sp>
        <p:nvSpPr>
          <p:cNvPr id="11" name="TextBox 10"/>
          <p:cNvSpPr txBox="1"/>
          <p:nvPr/>
        </p:nvSpPr>
        <p:spPr>
          <a:xfrm>
            <a:off x="804672" y="3794760"/>
            <a:ext cx="3145536" cy="320040"/>
          </a:xfrm>
          <a:prstGeom prst="rect">
            <a:avLst/>
          </a:prstGeom>
          <a:noFill/>
        </p:spPr>
        <p:txBody>
          <a:bodyPr wrap="square">
            <a:spAutoFit/>
          </a:bodyPr>
          <a:lstStyle/>
          <a:p>
            <a:pPr algn="ctr">
              <a:spcAft>
                <a:spcPts val="200"/>
              </a:spcAft>
              <a:defRPr sz="1000" b="0">
                <a:solidFill>
                  <a:srgbClr val="323130"/>
                </a:solidFill>
                <a:latin typeface="Segoe UI"/>
              </a:defRPr>
            </a:pPr>
            <a:r>
              <a:t>Fabric NEE at scale</a:t>
            </a:r>
          </a:p>
        </p:txBody>
      </p:sp>
      <p:sp>
        <p:nvSpPr>
          <p:cNvPr id="12" name="Rounded Rectangle 11"/>
          <p:cNvSpPr/>
          <p:nvPr/>
        </p:nvSpPr>
        <p:spPr>
          <a:xfrm>
            <a:off x="4389120" y="3291840"/>
            <a:ext cx="3291840" cy="1005840"/>
          </a:xfrm>
          <a:prstGeom prst="roundRect">
            <a:avLst/>
          </a:prstGeom>
          <a:solidFill>
            <a:srgbClr val="FFFFFF"/>
          </a:solidFill>
          <a:ln w="254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3401568"/>
            <a:ext cx="3291840" cy="411480"/>
          </a:xfrm>
          <a:prstGeom prst="rect">
            <a:avLst/>
          </a:prstGeom>
          <a:noFill/>
        </p:spPr>
        <p:txBody>
          <a:bodyPr wrap="square">
            <a:spAutoFit/>
          </a:bodyPr>
          <a:lstStyle/>
          <a:p>
            <a:pPr algn="ctr">
              <a:spcAft>
                <a:spcPts val="200"/>
              </a:spcAft>
              <a:defRPr sz="2800" b="1">
                <a:solidFill>
                  <a:srgbClr val="107C10"/>
                </a:solidFill>
                <a:latin typeface="Segoe UI"/>
              </a:defRPr>
            </a:pPr>
            <a:r>
              <a:t>Upstream Contributor</a:t>
            </a:r>
          </a:p>
        </p:txBody>
      </p:sp>
      <p:sp>
        <p:nvSpPr>
          <p:cNvPr id="14" name="TextBox 13"/>
          <p:cNvSpPr txBox="1"/>
          <p:nvPr/>
        </p:nvSpPr>
        <p:spPr>
          <a:xfrm>
            <a:off x="4462272" y="3794760"/>
            <a:ext cx="3145536" cy="320040"/>
          </a:xfrm>
          <a:prstGeom prst="rect">
            <a:avLst/>
          </a:prstGeom>
          <a:noFill/>
        </p:spPr>
        <p:txBody>
          <a:bodyPr wrap="square">
            <a:spAutoFit/>
          </a:bodyPr>
          <a:lstStyle/>
          <a:p>
            <a:pPr algn="ctr">
              <a:spcAft>
                <a:spcPts val="200"/>
              </a:spcAft>
              <a:defRPr sz="1000" b="0">
                <a:solidFill>
                  <a:srgbClr val="323130"/>
                </a:solidFill>
                <a:latin typeface="Segoe UI"/>
              </a:defRPr>
            </a:pPr>
            <a:r>
              <a:t>Gluten + Velox + Spark</a:t>
            </a:r>
          </a:p>
        </p:txBody>
      </p:sp>
      <p:sp>
        <p:nvSpPr>
          <p:cNvPr id="15" name="Rounded Rectangle 14"/>
          <p:cNvSpPr/>
          <p:nvPr/>
        </p:nvSpPr>
        <p:spPr>
          <a:xfrm>
            <a:off x="8046720" y="3291840"/>
            <a:ext cx="3291840" cy="1005840"/>
          </a:xfrm>
          <a:prstGeom prst="roundRect">
            <a:avLst/>
          </a:prstGeom>
          <a:solidFill>
            <a:srgbClr val="FFFFFF"/>
          </a:solidFill>
          <a:ln w="25400">
            <a:solidFill>
              <a:srgbClr val="886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3401568"/>
            <a:ext cx="3291840" cy="411480"/>
          </a:xfrm>
          <a:prstGeom prst="rect">
            <a:avLst/>
          </a:prstGeom>
          <a:noFill/>
        </p:spPr>
        <p:txBody>
          <a:bodyPr wrap="square">
            <a:spAutoFit/>
          </a:bodyPr>
          <a:lstStyle/>
          <a:p>
            <a:pPr algn="ctr">
              <a:spcAft>
                <a:spcPts val="200"/>
              </a:spcAft>
              <a:defRPr sz="2800" b="1">
                <a:solidFill>
                  <a:srgbClr val="886CE4"/>
                </a:solidFill>
                <a:latin typeface="Segoe UI"/>
              </a:defRPr>
            </a:pPr>
            <a:r>
              <a:t>Community Partner</a:t>
            </a:r>
          </a:p>
        </p:txBody>
      </p:sp>
      <p:sp>
        <p:nvSpPr>
          <p:cNvPr id="17" name="TextBox 16"/>
          <p:cNvSpPr txBox="1"/>
          <p:nvPr/>
        </p:nvSpPr>
        <p:spPr>
          <a:xfrm>
            <a:off x="8119872" y="3794760"/>
            <a:ext cx="3145536" cy="320040"/>
          </a:xfrm>
          <a:prstGeom prst="rect">
            <a:avLst/>
          </a:prstGeom>
          <a:noFill/>
        </p:spPr>
        <p:txBody>
          <a:bodyPr wrap="square">
            <a:spAutoFit/>
          </a:bodyPr>
          <a:lstStyle/>
          <a:p>
            <a:pPr algn="ctr">
              <a:spcAft>
                <a:spcPts val="200"/>
              </a:spcAft>
              <a:defRPr sz="1000" b="0">
                <a:solidFill>
                  <a:srgbClr val="323130"/>
                </a:solidFill>
                <a:latin typeface="Segoe UI"/>
              </a:defRPr>
            </a:pPr>
            <a:r>
              <a:t>PMC &amp; committer seat</a:t>
            </a:r>
          </a:p>
        </p:txBody>
      </p:sp>
      <p:sp>
        <p:nvSpPr>
          <p:cNvPr id="18" name="TextBox 17"/>
          <p:cNvSpPr txBox="1"/>
          <p:nvPr/>
        </p:nvSpPr>
        <p:spPr>
          <a:xfrm>
            <a:off x="731520" y="4526280"/>
            <a:ext cx="10515600" cy="457200"/>
          </a:xfrm>
          <a:prstGeom prst="rect">
            <a:avLst/>
          </a:prstGeom>
          <a:noFill/>
        </p:spPr>
        <p:txBody>
          <a:bodyPr wrap="square">
            <a:spAutoFit/>
          </a:bodyPr>
          <a:lstStyle/>
          <a:p>
            <a:pPr algn="ctr">
              <a:spcAft>
                <a:spcPts val="200"/>
              </a:spcAft>
              <a:defRPr sz="1200" b="0">
                <a:solidFill>
                  <a:srgbClr val="605E5C"/>
                </a:solidFill>
                <a:latin typeface="Segoe UI"/>
              </a:defRPr>
            </a:pPr>
            <a:r>
              <a:t>The upstream-first pattern: validate at scale, contribute in the open, ship products based on the shared foundation.</a:t>
            </a:r>
          </a:p>
        </p:txBody>
      </p:sp>
      <p:sp>
        <p:nvSpPr>
          <p:cNvPr id="19" name="TextBox 18"/>
          <p:cNvSpPr txBox="1"/>
          <p:nvPr/>
        </p:nvSpPr>
        <p:spPr>
          <a:xfrm>
            <a:off x="731520" y="4937760"/>
            <a:ext cx="10515600" cy="228600"/>
          </a:xfrm>
          <a:prstGeom prst="rect">
            <a:avLst/>
          </a:prstGeom>
          <a:noFill/>
        </p:spPr>
        <p:txBody>
          <a:bodyPr wrap="square">
            <a:spAutoFit/>
          </a:bodyPr>
          <a:lstStyle/>
          <a:p>
            <a:pPr algn="l">
              <a:spcAft>
                <a:spcPts val="200"/>
              </a:spcAft>
              <a:defRPr sz="900" b="0">
                <a:solidFill>
                  <a:srgbClr val="605E5C"/>
                </a:solidFill>
                <a:latin typeface="Segoe UI"/>
              </a:defRPr>
            </a:pPr>
            <a:r>
              <a:t>Ref: incubator.apache.org/projects/gluten.html</a:t>
            </a:r>
          </a:p>
        </p:txBody>
      </p:sp>
      <p:sp>
        <p:nvSpPr>
          <p:cNvPr id="20" name="TextBox 19"/>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21" name="TextBox 20"/>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The Choice We Faced</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10515600" cy="457200"/>
          </a:xfrm>
          <a:prstGeom prst="rect">
            <a:avLst/>
          </a:prstGeom>
          <a:noFill/>
        </p:spPr>
        <p:txBody>
          <a:bodyPr wrap="square">
            <a:spAutoFit/>
          </a:bodyPr>
          <a:lstStyle/>
          <a:p>
            <a:pPr algn="l">
              <a:spcAft>
                <a:spcPts val="200"/>
              </a:spcAft>
              <a:defRPr sz="1400" b="0">
                <a:solidFill>
                  <a:srgbClr val="323130"/>
                </a:solidFill>
                <a:latin typeface="Segoe UI"/>
              </a:defRPr>
            </a:pPr>
            <a:r>
              <a:t>Fabric runs Spark at large scale. We needed material performance gains without requiring application rewrites or a separate premium runtime.</a:t>
            </a:r>
          </a:p>
        </p:txBody>
      </p:sp>
      <p:graphicFrame>
        <p:nvGraphicFramePr>
          <p:cNvPr id="5" name="Table 4"/>
          <p:cNvGraphicFramePr>
            <a:graphicFrameLocks noGrp="1"/>
          </p:cNvGraphicFramePr>
          <p:nvPr/>
        </p:nvGraphicFramePr>
        <p:xfrm>
          <a:off x="731520" y="1737360"/>
          <a:ext cx="10515600" cy="1920240"/>
        </p:xfrm>
        <a:graphic>
          <a:graphicData uri="http://schemas.openxmlformats.org/drawingml/2006/table">
            <a:tbl>
              <a:tblPr firstRow="1" bandRow="1">
                <a:tableStyleId>{5C22544A-7EE6-4342-B048-85BDC9FD1C3A}</a:tableStyleId>
              </a:tblPr>
              <a:tblGrid>
                <a:gridCol w="3200400"/>
                <a:gridCol w="7315200"/>
              </a:tblGrid>
              <a:tr h="384048">
                <a:tc>
                  <a:txBody>
                    <a:bodyPr wrap="square"/>
                    <a:lstStyle/>
                    <a:p>
                      <a:pPr>
                        <a:spcAft>
                          <a:spcPts val="100"/>
                        </a:spcAft>
                        <a:defRPr sz="1200" b="1">
                          <a:solidFill>
                            <a:srgbClr val="FFFFFF"/>
                          </a:solidFill>
                          <a:latin typeface="Segoe UI"/>
                        </a:defRPr>
                      </a:pPr>
                      <a:r>
                        <a:t>Approach</a:t>
                      </a:r>
                    </a:p>
                  </a:txBody>
                  <a:tcPr marL="101600" marR="101600" marT="50800" marB="50800">
                    <a:solidFill>
                      <a:srgbClr val="0078D4"/>
                    </a:solidFill>
                  </a:tcPr>
                </a:tc>
                <a:tc>
                  <a:txBody>
                    <a:bodyPr wrap="square"/>
                    <a:lstStyle/>
                    <a:p>
                      <a:pPr>
                        <a:spcAft>
                          <a:spcPts val="100"/>
                        </a:spcAft>
                        <a:defRPr sz="1200" b="1">
                          <a:solidFill>
                            <a:srgbClr val="FFFFFF"/>
                          </a:solidFill>
                          <a:latin typeface="Segoe UI"/>
                        </a:defRPr>
                      </a:pPr>
                      <a:r>
                        <a:t>Assessment</a:t>
                      </a:r>
                    </a:p>
                  </a:txBody>
                  <a:tcPr marL="101600" marR="101600" marT="50800" marB="50800">
                    <a:solidFill>
                      <a:srgbClr val="0078D4"/>
                    </a:solidFill>
                  </a:tcPr>
                </a:tc>
              </a:tr>
              <a:tr h="384048">
                <a:tc>
                  <a:txBody>
                    <a:bodyPr wrap="square"/>
                    <a:lstStyle/>
                    <a:p>
                      <a:pPr>
                        <a:spcAft>
                          <a:spcPts val="100"/>
                        </a:spcAft>
                        <a:defRPr sz="1200">
                          <a:solidFill>
                            <a:srgbClr val="323130"/>
                          </a:solidFill>
                          <a:latin typeface="Segoe UI"/>
                        </a:defRPr>
                      </a:pPr>
                      <a:r>
                        <a:t>Build from scratch</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Years of effort, no community leverage</a:t>
                      </a:r>
                    </a:p>
                  </a:txBody>
                  <a:tcPr marL="101600" marR="101600" marT="50800" marB="50800">
                    <a:solidFill>
                      <a:srgbClr val="FFFFFF"/>
                    </a:solidFill>
                  </a:tcPr>
                </a:tc>
              </a:tr>
              <a:tr h="384048">
                <a:tc>
                  <a:txBody>
                    <a:bodyPr wrap="square"/>
                    <a:lstStyle/>
                    <a:p>
                      <a:pPr>
                        <a:spcAft>
                          <a:spcPts val="100"/>
                        </a:spcAft>
                        <a:defRPr sz="1200">
                          <a:solidFill>
                            <a:srgbClr val="323130"/>
                          </a:solidFill>
                          <a:latin typeface="Segoe UI"/>
                        </a:defRPr>
                      </a:pPr>
                      <a:r>
                        <a:t>Fork Spark + custom codegen</a:t>
                      </a:r>
                    </a:p>
                  </a:txBody>
                  <a:tcPr marL="101600" marR="101600" marT="50800" marB="50800">
                    <a:solidFill>
                      <a:srgbClr val="FAF9F8"/>
                    </a:solidFill>
                  </a:tcPr>
                </a:tc>
                <a:tc>
                  <a:txBody>
                    <a:bodyPr wrap="square"/>
                    <a:lstStyle/>
                    <a:p>
                      <a:pPr>
                        <a:spcAft>
                          <a:spcPts val="100"/>
                        </a:spcAft>
                        <a:defRPr sz="1200">
                          <a:solidFill>
                            <a:srgbClr val="323130"/>
                          </a:solidFill>
                          <a:latin typeface="Segoe UI"/>
                        </a:defRPr>
                      </a:pPr>
                      <a:r>
                        <a:t>Diverges from upstream, maintenance burden</a:t>
                      </a:r>
                    </a:p>
                  </a:txBody>
                  <a:tcPr marL="101600" marR="101600" marT="50800" marB="50800">
                    <a:solidFill>
                      <a:srgbClr val="FAF9F8"/>
                    </a:solidFill>
                  </a:tcPr>
                </a:tc>
              </a:tr>
              <a:tr h="384048">
                <a:tc>
                  <a:txBody>
                    <a:bodyPr wrap="square"/>
                    <a:lstStyle/>
                    <a:p>
                      <a:pPr>
                        <a:spcAft>
                          <a:spcPts val="100"/>
                        </a:spcAft>
                        <a:defRPr sz="1200">
                          <a:solidFill>
                            <a:srgbClr val="323130"/>
                          </a:solidFill>
                          <a:latin typeface="Segoe UI"/>
                        </a:defRPr>
                      </a:pPr>
                      <a:r>
                        <a:t>Proprietary native engine</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Closed ecosystem, limited upstream leverage</a:t>
                      </a:r>
                    </a:p>
                  </a:txBody>
                  <a:tcPr marL="101600" marR="101600" marT="50800" marB="50800">
                    <a:solidFill>
                      <a:srgbClr val="FFFFFF"/>
                    </a:solidFill>
                  </a:tcPr>
                </a:tc>
              </a:tr>
              <a:tr h="384048">
                <a:tc>
                  <a:txBody>
                    <a:bodyPr wrap="square"/>
                    <a:lstStyle/>
                    <a:p>
                      <a:pPr>
                        <a:spcAft>
                          <a:spcPts val="100"/>
                        </a:spcAft>
                        <a:defRPr sz="1200" b="1">
                          <a:solidFill>
                            <a:srgbClr val="0078D4"/>
                          </a:solidFill>
                          <a:latin typeface="Segoe UI"/>
                        </a:defRPr>
                      </a:pPr>
                      <a:r>
                        <a:t>Gluten + Velox  ✓</a:t>
                      </a:r>
                    </a:p>
                  </a:txBody>
                  <a:tcPr marL="101600" marR="101600" marT="50800" marB="50800">
                    <a:solidFill>
                      <a:srgbClr val="EBF3FB"/>
                    </a:solidFill>
                  </a:tcPr>
                </a:tc>
                <a:tc>
                  <a:txBody>
                    <a:bodyPr wrap="square"/>
                    <a:lstStyle/>
                    <a:p>
                      <a:pPr>
                        <a:spcAft>
                          <a:spcPts val="100"/>
                        </a:spcAft>
                        <a:defRPr sz="1200" b="1">
                          <a:solidFill>
                            <a:srgbClr val="0078D4"/>
                          </a:solidFill>
                          <a:latin typeface="Segoe UI"/>
                        </a:defRPr>
                      </a:pPr>
                      <a:r>
                        <a:t>Production-proven execution engine, modular integration model, active multi-company community</a:t>
                      </a:r>
                    </a:p>
                  </a:txBody>
                  <a:tcPr marL="101600" marR="101600" marT="50800" marB="50800">
                    <a:solidFill>
                      <a:srgbClr val="EBF3FB"/>
                    </a:solidFill>
                  </a:tcPr>
                </a:tc>
              </a:tr>
            </a:tbl>
          </a:graphicData>
        </a:graphic>
      </p:graphicFrame>
      <p:sp>
        <p:nvSpPr>
          <p:cNvPr id="6" name="Rounded Rectangle 5"/>
          <p:cNvSpPr/>
          <p:nvPr/>
        </p:nvSpPr>
        <p:spPr>
          <a:xfrm>
            <a:off x="731520" y="4206240"/>
            <a:ext cx="10515600" cy="91440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4206240"/>
            <a:ext cx="73152" cy="914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279392"/>
            <a:ext cx="10241280" cy="777240"/>
          </a:xfrm>
          <a:prstGeom prst="rect">
            <a:avLst/>
          </a:prstGeom>
          <a:noFill/>
        </p:spPr>
        <p:txBody>
          <a:bodyPr wrap="square">
            <a:spAutoFit/>
          </a:bodyPr>
          <a:lstStyle/>
          <a:p>
            <a:r>
              <a:rPr sz="1300" b="1">
                <a:solidFill>
                  <a:srgbClr val="0078D4"/>
                </a:solidFill>
                <a:latin typeface="Segoe UI"/>
              </a:rPr>
              <a:t>Community flywheel: </a:t>
            </a:r>
            <a:r>
              <a:rPr sz="1300">
                <a:solidFill>
                  <a:srgbClr val="323130"/>
                </a:solidFill>
                <a:latin typeface="Segoe UI"/>
              </a:rPr>
              <a:t>Production adopters discover issues at scale → upstream fixes → Meta, Microsoft, Intel, Kyligence, and all adopters benefit → repeat.</a:t>
            </a:r>
          </a:p>
        </p:txBody>
      </p:sp>
      <p:sp>
        <p:nvSpPr>
          <p:cNvPr id="9" name="TextBox 8"/>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10" name="TextBox 9"/>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02</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Architecture in Practice</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Where Spark ends, Gluten translates, and Velox takes over</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Execution Flow: Spark → Gluten → Velox</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188720"/>
            <a:ext cx="3200400" cy="1097280"/>
          </a:xfrm>
          <a:prstGeom prst="roundRect">
            <a:avLst/>
          </a:prstGeom>
          <a:solidFill>
            <a:srgbClr val="FAF9F8"/>
          </a:solidFill>
          <a:ln w="254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61872"/>
            <a:ext cx="2926080" cy="320040"/>
          </a:xfrm>
          <a:prstGeom prst="rect">
            <a:avLst/>
          </a:prstGeom>
          <a:noFill/>
        </p:spPr>
        <p:txBody>
          <a:bodyPr wrap="square">
            <a:spAutoFit/>
          </a:bodyPr>
          <a:lstStyle/>
          <a:p>
            <a:pPr algn="ctr">
              <a:spcAft>
                <a:spcPts val="200"/>
              </a:spcAft>
              <a:defRPr sz="1400" b="1">
                <a:solidFill>
                  <a:srgbClr val="323130"/>
                </a:solidFill>
                <a:latin typeface="Segoe UI"/>
              </a:defRPr>
            </a:pPr>
            <a:r>
              <a:t>Spark Planning</a:t>
            </a:r>
          </a:p>
        </p:txBody>
      </p:sp>
      <p:sp>
        <p:nvSpPr>
          <p:cNvPr id="6" name="TextBox 5"/>
          <p:cNvSpPr txBox="1"/>
          <p:nvPr/>
        </p:nvSpPr>
        <p:spPr>
          <a:xfrm>
            <a:off x="868680" y="1572768"/>
            <a:ext cx="2926080" cy="502920"/>
          </a:xfrm>
          <a:prstGeom prst="rect">
            <a:avLst/>
          </a:prstGeom>
          <a:noFill/>
        </p:spPr>
        <p:txBody>
          <a:bodyPr wrap="square">
            <a:spAutoFit/>
          </a:bodyPr>
          <a:lstStyle/>
          <a:p>
            <a:pPr algn="ctr">
              <a:spcAft>
                <a:spcPts val="200"/>
              </a:spcAft>
              <a:defRPr sz="1100" b="0">
                <a:solidFill>
                  <a:srgbClr val="605E5C"/>
                </a:solidFill>
                <a:latin typeface="Segoe UI"/>
              </a:defRPr>
            </a:pPr>
            <a:r>
              <a:t>Catalyst optimizer, AQE,</a:t>
            </a:r>
            <a:br/>
            <a:r>
              <a:t>CBO — unchanged</a:t>
            </a:r>
          </a:p>
        </p:txBody>
      </p:sp>
      <p:sp>
        <p:nvSpPr>
          <p:cNvPr id="7" name="TextBox 6"/>
          <p:cNvSpPr txBox="1"/>
          <p:nvPr/>
        </p:nvSpPr>
        <p:spPr>
          <a:xfrm>
            <a:off x="3931920" y="1417320"/>
            <a:ext cx="640080" cy="457200"/>
          </a:xfrm>
          <a:prstGeom prst="rect">
            <a:avLst/>
          </a:prstGeom>
          <a:noFill/>
        </p:spPr>
        <p:txBody>
          <a:bodyPr wrap="square">
            <a:spAutoFit/>
          </a:bodyPr>
          <a:lstStyle/>
          <a:p>
            <a:pPr algn="ctr">
              <a:spcAft>
                <a:spcPts val="200"/>
              </a:spcAft>
              <a:defRPr sz="2800" b="1">
                <a:solidFill>
                  <a:srgbClr val="0078D4"/>
                </a:solidFill>
                <a:latin typeface="Segoe UI"/>
              </a:defRPr>
            </a:pPr>
            <a:r>
              <a:t>→</a:t>
            </a:r>
          </a:p>
        </p:txBody>
      </p:sp>
      <p:sp>
        <p:nvSpPr>
          <p:cNvPr id="8" name="Rounded Rectangle 7"/>
          <p:cNvSpPr/>
          <p:nvPr/>
        </p:nvSpPr>
        <p:spPr>
          <a:xfrm>
            <a:off x="4572000" y="1188720"/>
            <a:ext cx="3200400" cy="1097280"/>
          </a:xfrm>
          <a:prstGeom prst="roundRect">
            <a:avLst/>
          </a:prstGeom>
          <a:solidFill>
            <a:srgbClr val="EBF3FB"/>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60" y="1261872"/>
            <a:ext cx="2926080" cy="320040"/>
          </a:xfrm>
          <a:prstGeom prst="rect">
            <a:avLst/>
          </a:prstGeom>
          <a:noFill/>
        </p:spPr>
        <p:txBody>
          <a:bodyPr wrap="square">
            <a:spAutoFit/>
          </a:bodyPr>
          <a:lstStyle/>
          <a:p>
            <a:pPr algn="ctr">
              <a:spcAft>
                <a:spcPts val="200"/>
              </a:spcAft>
              <a:defRPr sz="1400" b="1">
                <a:solidFill>
                  <a:srgbClr val="323130"/>
                </a:solidFill>
                <a:latin typeface="Segoe UI"/>
              </a:defRPr>
            </a:pPr>
            <a:r>
              <a:t>Gluten Translation</a:t>
            </a:r>
          </a:p>
        </p:txBody>
      </p:sp>
      <p:sp>
        <p:nvSpPr>
          <p:cNvPr id="10" name="TextBox 9"/>
          <p:cNvSpPr txBox="1"/>
          <p:nvPr/>
        </p:nvSpPr>
        <p:spPr>
          <a:xfrm>
            <a:off x="4709160" y="1572768"/>
            <a:ext cx="2926080" cy="502920"/>
          </a:xfrm>
          <a:prstGeom prst="rect">
            <a:avLst/>
          </a:prstGeom>
          <a:noFill/>
        </p:spPr>
        <p:txBody>
          <a:bodyPr wrap="square">
            <a:spAutoFit/>
          </a:bodyPr>
          <a:lstStyle/>
          <a:p>
            <a:pPr algn="ctr">
              <a:spcAft>
                <a:spcPts val="200"/>
              </a:spcAft>
              <a:defRPr sz="1100" b="0">
                <a:solidFill>
                  <a:srgbClr val="605E5C"/>
                </a:solidFill>
                <a:latin typeface="Segoe UI"/>
              </a:defRPr>
            </a:pPr>
            <a:r>
              <a:t>Catalyst plan → Substrait IR</a:t>
            </a:r>
            <a:br/>
            <a:r>
              <a:t>→ Velox operators (via JNI)</a:t>
            </a:r>
          </a:p>
        </p:txBody>
      </p:sp>
      <p:sp>
        <p:nvSpPr>
          <p:cNvPr id="11" name="TextBox 10"/>
          <p:cNvSpPr txBox="1"/>
          <p:nvPr/>
        </p:nvSpPr>
        <p:spPr>
          <a:xfrm>
            <a:off x="7772400" y="1417320"/>
            <a:ext cx="640080" cy="457200"/>
          </a:xfrm>
          <a:prstGeom prst="rect">
            <a:avLst/>
          </a:prstGeom>
          <a:noFill/>
        </p:spPr>
        <p:txBody>
          <a:bodyPr wrap="square">
            <a:spAutoFit/>
          </a:bodyPr>
          <a:lstStyle/>
          <a:p>
            <a:pPr algn="ctr">
              <a:spcAft>
                <a:spcPts val="200"/>
              </a:spcAft>
              <a:defRPr sz="2800" b="1">
                <a:solidFill>
                  <a:srgbClr val="0078D4"/>
                </a:solidFill>
                <a:latin typeface="Segoe UI"/>
              </a:defRPr>
            </a:pPr>
            <a:r>
              <a:t>→</a:t>
            </a:r>
          </a:p>
        </p:txBody>
      </p:sp>
      <p:sp>
        <p:nvSpPr>
          <p:cNvPr id="12" name="Rounded Rectangle 11"/>
          <p:cNvSpPr/>
          <p:nvPr/>
        </p:nvSpPr>
        <p:spPr>
          <a:xfrm>
            <a:off x="8412480" y="1188720"/>
            <a:ext cx="3200400" cy="1097280"/>
          </a:xfrm>
          <a:prstGeom prst="roundRect">
            <a:avLst/>
          </a:prstGeom>
          <a:solidFill>
            <a:srgbClr val="E8F5E9"/>
          </a:solidFill>
          <a:ln w="254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9640" y="1261872"/>
            <a:ext cx="2926080" cy="320040"/>
          </a:xfrm>
          <a:prstGeom prst="rect">
            <a:avLst/>
          </a:prstGeom>
          <a:noFill/>
        </p:spPr>
        <p:txBody>
          <a:bodyPr wrap="square">
            <a:spAutoFit/>
          </a:bodyPr>
          <a:lstStyle/>
          <a:p>
            <a:pPr algn="ctr">
              <a:spcAft>
                <a:spcPts val="200"/>
              </a:spcAft>
              <a:defRPr sz="1400" b="1">
                <a:solidFill>
                  <a:srgbClr val="323130"/>
                </a:solidFill>
                <a:latin typeface="Segoe UI"/>
              </a:defRPr>
            </a:pPr>
            <a:r>
              <a:t>Velox Execution</a:t>
            </a:r>
          </a:p>
        </p:txBody>
      </p:sp>
      <p:sp>
        <p:nvSpPr>
          <p:cNvPr id="14" name="TextBox 13"/>
          <p:cNvSpPr txBox="1"/>
          <p:nvPr/>
        </p:nvSpPr>
        <p:spPr>
          <a:xfrm>
            <a:off x="8549640" y="1572768"/>
            <a:ext cx="2926080" cy="502920"/>
          </a:xfrm>
          <a:prstGeom prst="rect">
            <a:avLst/>
          </a:prstGeom>
          <a:noFill/>
        </p:spPr>
        <p:txBody>
          <a:bodyPr wrap="square">
            <a:spAutoFit/>
          </a:bodyPr>
          <a:lstStyle/>
          <a:p>
            <a:pPr algn="ctr">
              <a:spcAft>
                <a:spcPts val="200"/>
              </a:spcAft>
              <a:defRPr sz="1100" b="0">
                <a:solidFill>
                  <a:srgbClr val="605E5C"/>
                </a:solidFill>
                <a:latin typeface="Segoe UI"/>
              </a:defRPr>
            </a:pPr>
            <a:r>
              <a:t>Vectorized C++ | SIMD</a:t>
            </a:r>
            <a:br/>
            <a:r>
              <a:t>Columnar | Off-heap</a:t>
            </a:r>
          </a:p>
        </p:txBody>
      </p:sp>
      <p:sp>
        <p:nvSpPr>
          <p:cNvPr id="15" name="TextBox 14"/>
          <p:cNvSpPr txBox="1"/>
          <p:nvPr/>
        </p:nvSpPr>
        <p:spPr>
          <a:xfrm>
            <a:off x="731520" y="2468880"/>
            <a:ext cx="10515600" cy="365760"/>
          </a:xfrm>
          <a:prstGeom prst="rect">
            <a:avLst/>
          </a:prstGeom>
          <a:noFill/>
        </p:spPr>
        <p:txBody>
          <a:bodyPr wrap="square">
            <a:spAutoFit/>
          </a:bodyPr>
          <a:lstStyle/>
          <a:p>
            <a:pPr algn="ctr">
              <a:spcAft>
                <a:spcPts val="200"/>
              </a:spcAft>
              <a:defRPr sz="1200" b="0">
                <a:solidFill>
                  <a:srgbClr val="605E5C"/>
                </a:solidFill>
                <a:latin typeface="Segoe UI"/>
              </a:defRPr>
            </a:pPr>
            <a:r>
              <a:t>Gluten replaces Spark's row-based Volcano iterator with Velox's vectorized pipeline — Spark's planning, scheduling, and fault tolerance remain unchanged.</a:t>
            </a:r>
          </a:p>
        </p:txBody>
      </p:sp>
      <p:sp>
        <p:nvSpPr>
          <p:cNvPr id="16" name="TextBox 15"/>
          <p:cNvSpPr txBox="1"/>
          <p:nvPr/>
        </p:nvSpPr>
        <p:spPr>
          <a:xfrm>
            <a:off x="731520" y="2926080"/>
            <a:ext cx="7315200" cy="365760"/>
          </a:xfrm>
          <a:prstGeom prst="rect">
            <a:avLst/>
          </a:prstGeom>
          <a:noFill/>
        </p:spPr>
        <p:txBody>
          <a:bodyPr wrap="square">
            <a:spAutoFit/>
          </a:bodyPr>
          <a:lstStyle/>
          <a:p>
            <a:pPr algn="l">
              <a:spcAft>
                <a:spcPts val="200"/>
              </a:spcAft>
              <a:defRPr sz="1600" b="1">
                <a:solidFill>
                  <a:srgbClr val="323130"/>
                </a:solidFill>
                <a:latin typeface="Segoe UI"/>
              </a:defRPr>
            </a:pPr>
            <a:r>
              <a:t>Simplified Plan with Fallback Boundary</a:t>
            </a:r>
          </a:p>
        </p:txBody>
      </p:sp>
      <p:sp>
        <p:nvSpPr>
          <p:cNvPr id="17" name="Rounded Rectangle 16"/>
          <p:cNvSpPr/>
          <p:nvPr/>
        </p:nvSpPr>
        <p:spPr>
          <a:xfrm>
            <a:off x="731520" y="3291840"/>
            <a:ext cx="10515600" cy="2468880"/>
          </a:xfrm>
          <a:prstGeom prst="roundRect">
            <a:avLst/>
          </a:prstGeom>
          <a:solidFill>
            <a:srgbClr val="F5F5F5"/>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83280"/>
            <a:ext cx="10149840" cy="2286000"/>
          </a:xfrm>
          <a:prstGeom prst="rect">
            <a:avLst/>
          </a:prstGeom>
          <a:noFill/>
        </p:spPr>
        <p:txBody>
          <a:bodyPr wrap="square">
            <a:spAutoFit/>
          </a:bodyPr>
          <a:lstStyle/>
          <a:p>
            <a:pPr algn="l">
              <a:spcAft>
                <a:spcPts val="200"/>
              </a:spcAft>
              <a:defRPr sz="1000" b="0">
                <a:solidFill>
                  <a:srgbClr val="323130"/>
                </a:solidFill>
                <a:latin typeface="Cascadia Code"/>
              </a:defRPr>
            </a:pPr>
            <a:r>
              <a:t>== Physical Plan (with Gluten) ==</a:t>
            </a:r>
            <a:br/>
            <a:r>
              <a:t>+- ^(2) ProjectExecTransformer [...]           ← NATIVE: projection</a:t>
            </a:r>
            <a:br/>
            <a:r>
              <a:t>  +- ^(2) ShuffledHashJoinExecTransformer [...]  ← NATIVE: hash join</a:t>
            </a:r>
            <a:br/>
            <a:r>
              <a:t>    :- ColumnarToRowExec                         ← fallback boundary (UnsupportedExpr)</a:t>
            </a:r>
            <a:br/>
            <a:r>
              <a:t>    :  +- ^(1) FilterExecTransformer [...]       ← NATIVE: filter</a:t>
            </a:r>
            <a:br/>
            <a:r>
              <a:t>    :    +- ^(1) NativeFileScan parquet          ← NATIVE: scan with pushdown</a:t>
            </a:r>
            <a:br/>
            <a:r>
              <a:t>    +- ^(0) ColumnarExchange [...]               ← NATIVE: shuffle</a:t>
            </a:r>
            <a:br/>
            <a:r>
              <a:t>      +- ^(0) FilterExecTransformer [...]        ← NATIVE: filter</a:t>
            </a:r>
            <a:br/>
            <a:r>
              <a:t>        +- ^(0) NativeFileScan parquet           ← NATIVE: scan</a:t>
            </a:r>
          </a:p>
        </p:txBody>
      </p:sp>
      <p:sp>
        <p:nvSpPr>
          <p:cNvPr id="19" name="TextBox 18"/>
          <p:cNvSpPr txBox="1"/>
          <p:nvPr/>
        </p:nvSpPr>
        <p:spPr>
          <a:xfrm>
            <a:off x="731520" y="5897880"/>
            <a:ext cx="10515600" cy="365760"/>
          </a:xfrm>
          <a:prstGeom prst="rect">
            <a:avLst/>
          </a:prstGeom>
          <a:noFill/>
        </p:spPr>
        <p:txBody>
          <a:bodyPr wrap="square">
            <a:spAutoFit/>
          </a:bodyPr>
          <a:lstStyle/>
          <a:p>
            <a:pPr algn="l">
              <a:spcAft>
                <a:spcPts val="200"/>
              </a:spcAft>
              <a:defRPr sz="1200" b="1">
                <a:solidFill>
                  <a:srgbClr val="0078D4"/>
                </a:solidFill>
                <a:latin typeface="Segoe UI"/>
              </a:defRPr>
            </a:pPr>
            <a:r>
              <a:t>Goal: preserve end-to-end columnar execution and minimize ColumnarToRow / RowToColumnar transitions.</a:t>
            </a:r>
          </a:p>
        </p:txBody>
      </p:sp>
      <p:sp>
        <p:nvSpPr>
          <p:cNvPr id="20" name="TextBox 19"/>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21" name="TextBox 20"/>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03</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Production Lessons</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Correctness, memory, and observability challenges from real workloads</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Solving Cross-Heap OOMs: A 9-Month Engineering Effort</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5029200" cy="320040"/>
          </a:xfrm>
          <a:prstGeom prst="rect">
            <a:avLst/>
          </a:prstGeom>
          <a:noFill/>
        </p:spPr>
        <p:txBody>
          <a:bodyPr wrap="square">
            <a:spAutoFit/>
          </a:bodyPr>
          <a:lstStyle/>
          <a:p>
            <a:pPr algn="l">
              <a:spcAft>
                <a:spcPts val="200"/>
              </a:spcAft>
              <a:defRPr sz="1800" b="1">
                <a:solidFill>
                  <a:srgbClr val="D13438"/>
                </a:solidFill>
                <a:latin typeface="Segoe UI"/>
              </a:defRPr>
            </a:pPr>
            <a:r>
              <a:t>The Problem</a:t>
            </a:r>
          </a:p>
        </p:txBody>
      </p:sp>
      <p:sp>
        <p:nvSpPr>
          <p:cNvPr id="5" name="TextBox 4"/>
          <p:cNvSpPr txBox="1"/>
          <p:nvPr/>
        </p:nvSpPr>
        <p:spPr>
          <a:xfrm>
            <a:off x="731520" y="1463040"/>
            <a:ext cx="5029200" cy="731520"/>
          </a:xfrm>
          <a:prstGeom prst="rect">
            <a:avLst/>
          </a:prstGeom>
          <a:noFill/>
        </p:spPr>
        <p:txBody>
          <a:bodyPr wrap="square">
            <a:spAutoFit/>
          </a:bodyPr>
          <a:lstStyle/>
          <a:p>
            <a:pPr algn="l">
              <a:spcAft>
                <a:spcPts val="200"/>
              </a:spcAft>
              <a:defRPr sz="1200" b="0">
                <a:solidFill>
                  <a:srgbClr val="323130"/>
                </a:solidFill>
                <a:latin typeface="Segoe UI"/>
              </a:defRPr>
            </a:pPr>
            <a:r>
              <a:t>Early 2025: TPC-DS queries crash with OOM after 90 seconds — despite available memory. Without shared accounting, Velox's MmapAllocator and JVM heap competed independently — neither could react to global memory pressure.</a:t>
            </a:r>
          </a:p>
        </p:txBody>
      </p:sp>
      <p:sp>
        <p:nvSpPr>
          <p:cNvPr id="6" name="Rounded Rectangle 5"/>
          <p:cNvSpPr/>
          <p:nvPr/>
        </p:nvSpPr>
        <p:spPr>
          <a:xfrm>
            <a:off x="731520" y="2286000"/>
            <a:ext cx="5029200" cy="1828800"/>
          </a:xfrm>
          <a:prstGeom prst="roundRect">
            <a:avLst/>
          </a:prstGeom>
          <a:solidFill>
            <a:srgbClr val="FDF0F0"/>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286000"/>
            <a:ext cx="73152" cy="182880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377440"/>
            <a:ext cx="4754880" cy="320040"/>
          </a:xfrm>
          <a:prstGeom prst="rect">
            <a:avLst/>
          </a:prstGeom>
          <a:noFill/>
        </p:spPr>
        <p:txBody>
          <a:bodyPr wrap="square">
            <a:spAutoFit/>
          </a:bodyPr>
          <a:lstStyle/>
          <a:p>
            <a:pPr algn="l">
              <a:spcAft>
                <a:spcPts val="200"/>
              </a:spcAft>
              <a:defRPr sz="1300" b="1">
                <a:solidFill>
                  <a:srgbClr val="D13438"/>
                </a:solidFill>
                <a:latin typeface="Segoe UI"/>
              </a:defRPr>
            </a:pPr>
            <a:r>
              <a:t>Root Cause &amp; Symptom</a:t>
            </a:r>
          </a:p>
        </p:txBody>
      </p:sp>
      <p:sp>
        <p:nvSpPr>
          <p:cNvPr id="9" name="TextBox 8"/>
          <p:cNvSpPr txBox="1"/>
          <p:nvPr/>
        </p:nvSpPr>
        <p:spPr>
          <a:xfrm>
            <a:off x="914400" y="2670048"/>
            <a:ext cx="4754880" cy="1371600"/>
          </a:xfrm>
          <a:prstGeom prst="rect">
            <a:avLst/>
          </a:prstGeom>
          <a:noFill/>
        </p:spPr>
        <p:txBody>
          <a:bodyPr wrap="square">
            <a:spAutoFit/>
          </a:bodyPr>
          <a:lstStyle/>
          <a:p>
            <a:pPr algn="l">
              <a:spcAft>
                <a:spcPts val="200"/>
              </a:spcAft>
              <a:defRPr sz="1100" b="0">
                <a:solidFill>
                  <a:srgbClr val="605E5C"/>
                </a:solidFill>
                <a:latin typeface="Segoe UI"/>
              </a:defRPr>
            </a:pPr>
            <a:r>
              <a:t>No unified memory accounting across JVM on-heap and Velox off-heap (via jemalloc). Velox allocated from OS while JVM GC ran under pressure, causing container OOMs before either allocator could react.</a:t>
            </a:r>
            <a:br/>
            <a:br/>
            <a:r>
              <a:t>Symptom: Large aggregations (GROUP BY with 100M+ groups) OOM at ~60% reported memory — Velox off-heap was invisible to Spark's memory manager.</a:t>
            </a:r>
          </a:p>
        </p:txBody>
      </p:sp>
      <p:sp>
        <p:nvSpPr>
          <p:cNvPr id="10" name="TextBox 9"/>
          <p:cNvSpPr txBox="1"/>
          <p:nvPr/>
        </p:nvSpPr>
        <p:spPr>
          <a:xfrm>
            <a:off x="6217920" y="1097280"/>
            <a:ext cx="5029200" cy="320040"/>
          </a:xfrm>
          <a:prstGeom prst="rect">
            <a:avLst/>
          </a:prstGeom>
          <a:noFill/>
        </p:spPr>
        <p:txBody>
          <a:bodyPr wrap="square">
            <a:spAutoFit/>
          </a:bodyPr>
          <a:lstStyle/>
          <a:p>
            <a:pPr algn="l">
              <a:spcAft>
                <a:spcPts val="200"/>
              </a:spcAft>
              <a:defRPr sz="1800" b="1">
                <a:solidFill>
                  <a:srgbClr val="107C10"/>
                </a:solidFill>
                <a:latin typeface="Segoe UI"/>
              </a:defRPr>
            </a:pPr>
            <a:r>
              <a:t>The Fix &amp; Impact</a:t>
            </a:r>
          </a:p>
        </p:txBody>
      </p:sp>
      <p:sp>
        <p:nvSpPr>
          <p:cNvPr id="11" name="TextBox 10"/>
          <p:cNvSpPr txBox="1"/>
          <p:nvPr/>
        </p:nvSpPr>
        <p:spPr>
          <a:xfrm>
            <a:off x="6217920" y="1463040"/>
            <a:ext cx="5212080" cy="365760"/>
          </a:xfrm>
          <a:prstGeom prst="rect">
            <a:avLst/>
          </a:prstGeom>
          <a:noFill/>
        </p:spPr>
        <p:txBody>
          <a:bodyPr wrap="square">
            <a:spAutoFit/>
          </a:bodyPr>
          <a:lstStyle/>
          <a:p>
            <a:pPr algn="l">
              <a:spcAft>
                <a:spcPts val="200"/>
              </a:spcAft>
              <a:defRPr sz="1200" b="0">
                <a:solidFill>
                  <a:srgbClr val="323130"/>
                </a:solidFill>
                <a:latin typeface="Segoe UI"/>
              </a:defRPr>
            </a:pPr>
            <a:r>
              <a:t>9-month collaboration across Gluten, Velox, and Fabric teams:</a:t>
            </a:r>
          </a:p>
        </p:txBody>
      </p:sp>
      <p:sp>
        <p:nvSpPr>
          <p:cNvPr id="12" name="TextBox 11"/>
          <p:cNvSpPr txBox="1"/>
          <p:nvPr/>
        </p:nvSpPr>
        <p:spPr>
          <a:xfrm>
            <a:off x="6217920" y="1920240"/>
            <a:ext cx="5212080" cy="1371600"/>
          </a:xfrm>
          <a:prstGeom prst="rect">
            <a:avLst/>
          </a:prstGeom>
          <a:noFill/>
        </p:spPr>
        <p:txBody>
          <a:bodyPr wrap="square">
            <a:spAutoFit/>
          </a:bodyPr>
          <a:lstStyle/>
          <a:p>
            <a:pPr>
              <a:spcBef>
                <a:spcPts val="200"/>
              </a:spcBef>
              <a:spcAft>
                <a:spcPts val="400"/>
              </a:spcAft>
            </a:pPr>
            <a:r>
              <a:rPr sz="1100" b="1">
                <a:solidFill>
                  <a:srgbClr val="323130"/>
                </a:solidFill>
                <a:latin typeface="Segoe UI"/>
              </a:rPr>
              <a:t>Reservation protocol:</a:t>
            </a:r>
            <a:r>
              <a:rPr sz="1100">
                <a:solidFill>
                  <a:srgbClr val="323130"/>
                </a:solidFill>
                <a:latin typeface="Segoe UI"/>
              </a:rPr>
              <a:t> Velox requests quota from Spark's MemoryManager before allocation</a:t>
            </a:r>
          </a:p>
          <a:p>
            <a:pPr>
              <a:spcBef>
                <a:spcPts val="200"/>
              </a:spcBef>
              <a:spcAft>
                <a:spcPts val="400"/>
              </a:spcAft>
            </a:pPr>
            <a:r>
              <a:rPr sz="1100" b="1">
                <a:solidFill>
                  <a:srgbClr val="323130"/>
                </a:solidFill>
                <a:latin typeface="Segoe UI"/>
              </a:rPr>
              <a:t>GC pressure signals:</a:t>
            </a:r>
            <a:r>
              <a:rPr sz="1100">
                <a:solidFill>
                  <a:srgbClr val="323130"/>
                </a:solidFill>
                <a:latin typeface="Segoe UI"/>
              </a:rPr>
              <a:t> JVM broadcasts pressure events → triggers Velox spill before OOM</a:t>
            </a:r>
          </a:p>
          <a:p>
            <a:pPr>
              <a:spcBef>
                <a:spcPts val="200"/>
              </a:spcBef>
              <a:spcAft>
                <a:spcPts val="400"/>
              </a:spcAft>
            </a:pPr>
            <a:r>
              <a:rPr sz="1100" b="1">
                <a:solidFill>
                  <a:srgbClr val="323130"/>
                </a:solidFill>
                <a:latin typeface="Segoe UI"/>
              </a:rPr>
              <a:t>Graceful degradation:</a:t>
            </a:r>
            <a:r>
              <a:rPr sz="1100">
                <a:solidFill>
                  <a:srgbClr val="323130"/>
                </a:solidFill>
                <a:latin typeface="Segoe UI"/>
              </a:rPr>
              <a:t> Under contention, Velox spills sorted partitions to SSD with async I/O</a:t>
            </a:r>
          </a:p>
        </p:txBody>
      </p:sp>
      <p:sp>
        <p:nvSpPr>
          <p:cNvPr id="13" name="Rounded Rectangle 12"/>
          <p:cNvSpPr/>
          <p:nvPr/>
        </p:nvSpPr>
        <p:spPr>
          <a:xfrm>
            <a:off x="6217920" y="3383280"/>
            <a:ext cx="2468880" cy="1051560"/>
          </a:xfrm>
          <a:prstGeom prst="roundRect">
            <a:avLst/>
          </a:prstGeom>
          <a:solidFill>
            <a:srgbClr val="FFFFFF"/>
          </a:solidFill>
          <a:ln w="254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3493008"/>
            <a:ext cx="2468880" cy="411480"/>
          </a:xfrm>
          <a:prstGeom prst="rect">
            <a:avLst/>
          </a:prstGeom>
          <a:noFill/>
        </p:spPr>
        <p:txBody>
          <a:bodyPr wrap="square">
            <a:spAutoFit/>
          </a:bodyPr>
          <a:lstStyle/>
          <a:p>
            <a:pPr algn="ctr">
              <a:spcAft>
                <a:spcPts val="200"/>
              </a:spcAft>
              <a:defRPr sz="2800" b="1">
                <a:solidFill>
                  <a:srgbClr val="107C10"/>
                </a:solidFill>
                <a:latin typeface="Segoe UI"/>
              </a:defRPr>
            </a:pPr>
            <a:r>
              <a:t>↓ 70%</a:t>
            </a:r>
          </a:p>
        </p:txBody>
      </p:sp>
      <p:sp>
        <p:nvSpPr>
          <p:cNvPr id="15" name="TextBox 14"/>
          <p:cNvSpPr txBox="1"/>
          <p:nvPr/>
        </p:nvSpPr>
        <p:spPr>
          <a:xfrm>
            <a:off x="6291072" y="3886200"/>
            <a:ext cx="2322576" cy="320040"/>
          </a:xfrm>
          <a:prstGeom prst="rect">
            <a:avLst/>
          </a:prstGeom>
          <a:noFill/>
        </p:spPr>
        <p:txBody>
          <a:bodyPr wrap="square">
            <a:spAutoFit/>
          </a:bodyPr>
          <a:lstStyle/>
          <a:p>
            <a:pPr algn="ctr">
              <a:spcAft>
                <a:spcPts val="200"/>
              </a:spcAft>
              <a:defRPr sz="1000" b="0">
                <a:solidFill>
                  <a:srgbClr val="323130"/>
                </a:solidFill>
                <a:latin typeface="Segoe UI"/>
              </a:defRPr>
            </a:pPr>
            <a:r>
              <a:t>OOM incidents</a:t>
            </a:r>
            <a:br/>
            <a:r>
              <a:t>(Fabric production telemetry)</a:t>
            </a:r>
          </a:p>
        </p:txBody>
      </p:sp>
      <p:sp>
        <p:nvSpPr>
          <p:cNvPr id="16" name="TextBox 15"/>
          <p:cNvSpPr txBox="1"/>
          <p:nvPr/>
        </p:nvSpPr>
        <p:spPr>
          <a:xfrm>
            <a:off x="6291072" y="4160520"/>
            <a:ext cx="2322576" cy="228600"/>
          </a:xfrm>
          <a:prstGeom prst="rect">
            <a:avLst/>
          </a:prstGeom>
          <a:noFill/>
        </p:spPr>
        <p:txBody>
          <a:bodyPr wrap="square">
            <a:spAutoFit/>
          </a:bodyPr>
          <a:lstStyle/>
          <a:p>
            <a:pPr algn="ctr">
              <a:spcAft>
                <a:spcPts val="200"/>
              </a:spcAft>
              <a:defRPr sz="800" b="0">
                <a:solidFill>
                  <a:srgbClr val="605E5C"/>
                </a:solidFill>
                <a:latin typeface="Segoe UI"/>
              </a:defRPr>
            </a:pPr>
            <a:r>
              <a:t>Gluten 1.3.0 + Runtime 1.3</a:t>
            </a:r>
          </a:p>
        </p:txBody>
      </p:sp>
      <p:sp>
        <p:nvSpPr>
          <p:cNvPr id="17" name="Rounded Rectangle 16"/>
          <p:cNvSpPr/>
          <p:nvPr/>
        </p:nvSpPr>
        <p:spPr>
          <a:xfrm>
            <a:off x="8961120" y="3383280"/>
            <a:ext cx="2468880" cy="1051560"/>
          </a:xfrm>
          <a:prstGeom prst="roundRect">
            <a:avLst/>
          </a:prstGeom>
          <a:solidFill>
            <a:srgbClr val="FFFFFF"/>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3493008"/>
            <a:ext cx="2468880" cy="411480"/>
          </a:xfrm>
          <a:prstGeom prst="rect">
            <a:avLst/>
          </a:prstGeom>
          <a:noFill/>
        </p:spPr>
        <p:txBody>
          <a:bodyPr wrap="square">
            <a:spAutoFit/>
          </a:bodyPr>
          <a:lstStyle/>
          <a:p>
            <a:pPr algn="ctr">
              <a:spcAft>
                <a:spcPts val="200"/>
              </a:spcAft>
              <a:defRPr sz="2800" b="1">
                <a:solidFill>
                  <a:srgbClr val="0078D4"/>
                </a:solidFill>
                <a:latin typeface="Segoe UI"/>
              </a:defRPr>
            </a:pPr>
            <a:r>
              <a:t>→ Upstream</a:t>
            </a:r>
          </a:p>
        </p:txBody>
      </p:sp>
      <p:sp>
        <p:nvSpPr>
          <p:cNvPr id="19" name="TextBox 18"/>
          <p:cNvSpPr txBox="1"/>
          <p:nvPr/>
        </p:nvSpPr>
        <p:spPr>
          <a:xfrm>
            <a:off x="9034272" y="3886200"/>
            <a:ext cx="2322576" cy="320040"/>
          </a:xfrm>
          <a:prstGeom prst="rect">
            <a:avLst/>
          </a:prstGeom>
          <a:noFill/>
        </p:spPr>
        <p:txBody>
          <a:bodyPr wrap="square">
            <a:spAutoFit/>
          </a:bodyPr>
          <a:lstStyle/>
          <a:p>
            <a:pPr algn="ctr">
              <a:spcAft>
                <a:spcPts val="200"/>
              </a:spcAft>
              <a:defRPr sz="1000" b="0">
                <a:solidFill>
                  <a:srgbClr val="323130"/>
                </a:solidFill>
                <a:latin typeface="Segoe UI"/>
              </a:defRPr>
            </a:pPr>
            <a:r>
              <a:t>Gluten 1.3.0 + community</a:t>
            </a:r>
          </a:p>
        </p:txBody>
      </p:sp>
      <p:sp>
        <p:nvSpPr>
          <p:cNvPr id="20" name="TextBox 19"/>
          <p:cNvSpPr txBox="1"/>
          <p:nvPr/>
        </p:nvSpPr>
        <p:spPr>
          <a:xfrm>
            <a:off x="9034272" y="4160520"/>
            <a:ext cx="2322576" cy="228600"/>
          </a:xfrm>
          <a:prstGeom prst="rect">
            <a:avLst/>
          </a:prstGeom>
          <a:noFill/>
        </p:spPr>
        <p:txBody>
          <a:bodyPr wrap="square">
            <a:spAutoFit/>
          </a:bodyPr>
          <a:lstStyle/>
          <a:p>
            <a:pPr algn="ctr">
              <a:spcAft>
                <a:spcPts val="200"/>
              </a:spcAft>
              <a:defRPr sz="800" b="0">
                <a:solidFill>
                  <a:srgbClr val="605E5C"/>
                </a:solidFill>
                <a:latin typeface="Segoe UI"/>
              </a:defRPr>
            </a:pPr>
            <a:r>
              <a:t>Runtime 1.3 Memory Blog</a:t>
            </a:r>
          </a:p>
        </p:txBody>
      </p:sp>
      <p:sp>
        <p:nvSpPr>
          <p:cNvPr id="21" name="TextBox 20"/>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22" name="TextBox 21"/>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More Production Lessons</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097280"/>
          <a:ext cx="10698480" cy="2304288"/>
        </p:xfrm>
        <a:graphic>
          <a:graphicData uri="http://schemas.openxmlformats.org/drawingml/2006/table">
            <a:tbl>
              <a:tblPr firstRow="1" bandRow="1">
                <a:tableStyleId>{5C22544A-7EE6-4342-B048-85BDC9FD1C3A}</a:tableStyleId>
              </a:tblPr>
              <a:tblGrid>
                <a:gridCol w="2011680"/>
                <a:gridCol w="5029200"/>
                <a:gridCol w="3657600"/>
              </a:tblGrid>
              <a:tr h="384048">
                <a:tc>
                  <a:txBody>
                    <a:bodyPr wrap="square"/>
                    <a:lstStyle/>
                    <a:p>
                      <a:pPr>
                        <a:spcAft>
                          <a:spcPts val="100"/>
                        </a:spcAft>
                        <a:defRPr sz="1100" b="1">
                          <a:solidFill>
                            <a:srgbClr val="FFFFFF"/>
                          </a:solidFill>
                          <a:latin typeface="Segoe UI"/>
                        </a:defRPr>
                      </a:pPr>
                      <a:r>
                        <a:t>Challenge</a:t>
                      </a:r>
                    </a:p>
                  </a:txBody>
                  <a:tcPr marL="101600" marR="101600" marT="50800" marB="50800">
                    <a:solidFill>
                      <a:srgbClr val="0078D4"/>
                    </a:solidFill>
                  </a:tcPr>
                </a:tc>
                <a:tc>
                  <a:txBody>
                    <a:bodyPr wrap="square"/>
                    <a:lstStyle/>
                    <a:p>
                      <a:pPr>
                        <a:spcAft>
                          <a:spcPts val="100"/>
                        </a:spcAft>
                        <a:defRPr sz="1100" b="1">
                          <a:solidFill>
                            <a:srgbClr val="FFFFFF"/>
                          </a:solidFill>
                          <a:latin typeface="Segoe UI"/>
                        </a:defRPr>
                      </a:pPr>
                      <a:r>
                        <a:t>What Happened</a:t>
                      </a:r>
                    </a:p>
                  </a:txBody>
                  <a:tcPr marL="101600" marR="101600" marT="50800" marB="50800">
                    <a:solidFill>
                      <a:srgbClr val="0078D4"/>
                    </a:solidFill>
                  </a:tcPr>
                </a:tc>
                <a:tc>
                  <a:txBody>
                    <a:bodyPr wrap="square"/>
                    <a:lstStyle/>
                    <a:p>
                      <a:pPr>
                        <a:spcAft>
                          <a:spcPts val="100"/>
                        </a:spcAft>
                        <a:defRPr sz="1100" b="1">
                          <a:solidFill>
                            <a:srgbClr val="FFFFFF"/>
                          </a:solidFill>
                          <a:latin typeface="Segoe UI"/>
                        </a:defRPr>
                      </a:pPr>
                      <a:r>
                        <a:t>Upstream Fix</a:t>
                      </a:r>
                    </a:p>
                  </a:txBody>
                  <a:tcPr marL="101600" marR="101600" marT="50800" marB="50800">
                    <a:solidFill>
                      <a:srgbClr val="0078D4"/>
                    </a:solidFill>
                  </a:tcPr>
                </a:tc>
              </a:tr>
              <a:tr h="384048">
                <a:tc>
                  <a:txBody>
                    <a:bodyPr wrap="square"/>
                    <a:lstStyle/>
                    <a:p>
                      <a:pPr>
                        <a:spcAft>
                          <a:spcPts val="100"/>
                        </a:spcAft>
                        <a:defRPr sz="1100">
                          <a:solidFill>
                            <a:srgbClr val="323130"/>
                          </a:solidFill>
                          <a:latin typeface="Segoe UI"/>
                        </a:defRPr>
                      </a:pPr>
                      <a:r>
                        <a:t>Null Semantics</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Velox's collect_set dropped nulls by default; Spark keeps them. TPC-DS queries silently returned wrong results.</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Velox #16416, #16947</a:t>
                      </a:r>
                    </a:p>
                  </a:txBody>
                  <a:tcPr marL="101600" marR="101600" marT="50800" marB="50800">
                    <a:solidFill>
                      <a:srgbClr val="FFFFFF"/>
                    </a:solidFill>
                  </a:tcPr>
                </a:tc>
              </a:tr>
              <a:tr h="384048">
                <a:tc>
                  <a:txBody>
                    <a:bodyPr wrap="square"/>
                    <a:lstStyle/>
                    <a:p>
                      <a:pPr>
                        <a:spcAft>
                          <a:spcPts val="100"/>
                        </a:spcAft>
                        <a:defRPr sz="1100">
                          <a:solidFill>
                            <a:srgbClr val="323130"/>
                          </a:solidFill>
                          <a:latin typeface="Segoe UI"/>
                        </a:defRPr>
                      </a:pPr>
                      <a:r>
                        <a:t>Fallback Storms</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One unsupported function forced entire query back to JVM — serialization overhead made native path slower than pure Spark.</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Dynamic filter pushdown (Gluten #11657) + Fabric Spark Advisor</a:t>
                      </a:r>
                    </a:p>
                  </a:txBody>
                  <a:tcPr marL="101600" marR="101600" marT="50800" marB="50800">
                    <a:solidFill>
                      <a:srgbClr val="FAF9F8"/>
                    </a:solidFill>
                  </a:tcPr>
                </a:tc>
              </a:tr>
              <a:tr h="384048">
                <a:tc>
                  <a:txBody>
                    <a:bodyPr wrap="square"/>
                    <a:lstStyle/>
                    <a:p>
                      <a:pPr>
                        <a:spcAft>
                          <a:spcPts val="100"/>
                        </a:spcAft>
                        <a:defRPr sz="1100">
                          <a:solidFill>
                            <a:srgbClr val="323130"/>
                          </a:solidFill>
                          <a:latin typeface="Segoe UI"/>
                        </a:defRPr>
                      </a:pPr>
                      <a:r>
                        <a:t>Security Boundary</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Native scan paths must honor Row-Level &amp; Column-Level Security policies.</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JNI bridge security enforcement in Fabric NEE</a:t>
                      </a:r>
                    </a:p>
                  </a:txBody>
                  <a:tcPr marL="101600" marR="101600" marT="50800" marB="50800">
                    <a:solidFill>
                      <a:srgbClr val="FFFFFF"/>
                    </a:solidFill>
                  </a:tcPr>
                </a:tc>
              </a:tr>
              <a:tr h="384048">
                <a:tc>
                  <a:txBody>
                    <a:bodyPr wrap="square"/>
                    <a:lstStyle/>
                    <a:p>
                      <a:pPr>
                        <a:spcAft>
                          <a:spcPts val="100"/>
                        </a:spcAft>
                        <a:defRPr sz="1100">
                          <a:solidFill>
                            <a:srgbClr val="323130"/>
                          </a:solidFill>
                          <a:latin typeface="Segoe UI"/>
                        </a:defRPr>
                      </a:pPr>
                      <a:r>
                        <a:t>Diagnostics</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Native segfaults (SIGSEGV) → no JVM stack trace, opaque crash dumps.</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Query trace, Fabric Spark Advisor, native crash symbolication</a:t>
                      </a:r>
                    </a:p>
                  </a:txBody>
                  <a:tcPr marL="101600" marR="101600" marT="50800" marB="50800">
                    <a:solidFill>
                      <a:srgbClr val="FAF9F8"/>
                    </a:solidFill>
                  </a:tcPr>
                </a:tc>
              </a:tr>
              <a:tr h="384048">
                <a:tc>
                  <a:txBody>
                    <a:bodyPr wrap="square"/>
                    <a:lstStyle/>
                    <a:p>
                      <a:pPr>
                        <a:spcAft>
                          <a:spcPts val="100"/>
                        </a:spcAft>
                        <a:defRPr sz="1100">
                          <a:solidFill>
                            <a:srgbClr val="323130"/>
                          </a:solidFill>
                          <a:latin typeface="Segoe UI"/>
                        </a:defRPr>
                      </a:pPr>
                      <a:r>
                        <a:t>Metrics Gaps</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Missing/incomplete metrics for native operators slowed production triage.</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Gluten #11861 — improved Generate/join/aggregation metrics fidelity</a:t>
                      </a:r>
                    </a:p>
                  </a:txBody>
                  <a:tcPr marL="101600" marR="101600" marT="50800" marB="50800">
                    <a:solidFill>
                      <a:srgbClr val="FFFFFF"/>
                    </a:solidFill>
                  </a:tcPr>
                </a:tc>
              </a:tr>
            </a:tbl>
          </a:graphicData>
        </a:graphic>
      </p:graphicFrame>
      <p:sp>
        <p:nvSpPr>
          <p:cNvPr id="5" name="Rounded Rectangle 4"/>
          <p:cNvSpPr/>
          <p:nvPr/>
        </p:nvSpPr>
        <p:spPr>
          <a:xfrm>
            <a:off x="731520" y="4754880"/>
            <a:ext cx="10515600" cy="64008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4754880"/>
            <a:ext cx="73152"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828032"/>
            <a:ext cx="10241280" cy="502920"/>
          </a:xfrm>
          <a:prstGeom prst="rect">
            <a:avLst/>
          </a:prstGeom>
          <a:noFill/>
        </p:spPr>
        <p:txBody>
          <a:bodyPr wrap="square">
            <a:spAutoFit/>
          </a:bodyPr>
          <a:lstStyle/>
          <a:p>
            <a:r>
              <a:rPr sz="1300" b="1">
                <a:solidFill>
                  <a:srgbClr val="0078D4"/>
                </a:solidFill>
                <a:latin typeface="Segoe UI"/>
              </a:rPr>
              <a:t>Key insight: </a:t>
            </a:r>
            <a:r>
              <a:rPr sz="1300">
                <a:solidFill>
                  <a:srgbClr val="323130"/>
                </a:solidFill>
                <a:latin typeface="Segoe UI"/>
              </a:rPr>
              <a:t>Production complements rigorous testing with real-world edge cases at previously impossible scale. Every row above became an upstream PR or a Fabric-specific hardening.</a:t>
            </a:r>
          </a:p>
        </p:txBody>
      </p:sp>
      <p:sp>
        <p:nvSpPr>
          <p:cNvPr id="8" name="TextBox 7"/>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9" name="TextBox 8"/>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04</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Upstream Contributions</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Validate at scale, upstream fixes, ecosystem benefits</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Contribution Themes: Validate → Upstream → Ecosystem Benefits</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515600" cy="365760"/>
          </a:xfrm>
          <a:prstGeom prst="rect">
            <a:avLst/>
          </a:prstGeom>
          <a:noFill/>
        </p:spPr>
        <p:txBody>
          <a:bodyPr wrap="square">
            <a:spAutoFit/>
          </a:bodyPr>
          <a:lstStyle/>
          <a:p>
            <a:pPr algn="l">
              <a:spcAft>
                <a:spcPts val="200"/>
              </a:spcAft>
              <a:defRPr sz="1200" b="0">
                <a:solidFill>
                  <a:srgbClr val="323130"/>
                </a:solidFill>
                <a:latin typeface="Segoe UI"/>
              </a:defRPr>
            </a:pPr>
            <a:r>
              <a:t>Microsoft contributes to Apache Spark, Apache Gluten, and Velox in collaboration with Meta, Intel, Kyligence, and the broader community.</a:t>
            </a:r>
          </a:p>
        </p:txBody>
      </p:sp>
      <p:graphicFrame>
        <p:nvGraphicFramePr>
          <p:cNvPr id="5" name="Table 4"/>
          <p:cNvGraphicFramePr>
            <a:graphicFrameLocks noGrp="1"/>
          </p:cNvGraphicFramePr>
          <p:nvPr/>
        </p:nvGraphicFramePr>
        <p:xfrm>
          <a:off x="731520" y="1463040"/>
          <a:ext cx="10698480" cy="2688336"/>
        </p:xfrm>
        <a:graphic>
          <a:graphicData uri="http://schemas.openxmlformats.org/drawingml/2006/table">
            <a:tbl>
              <a:tblPr firstRow="1" bandRow="1">
                <a:tableStyleId>{5C22544A-7EE6-4342-B048-85BDC9FD1C3A}</a:tableStyleId>
              </a:tblPr>
              <a:tblGrid>
                <a:gridCol w="1828800"/>
                <a:gridCol w="3657600"/>
                <a:gridCol w="5212080"/>
              </a:tblGrid>
              <a:tr h="384048">
                <a:tc>
                  <a:txBody>
                    <a:bodyPr wrap="square"/>
                    <a:lstStyle/>
                    <a:p>
                      <a:pPr>
                        <a:spcAft>
                          <a:spcPts val="100"/>
                        </a:spcAft>
                        <a:defRPr sz="1000" b="1">
                          <a:solidFill>
                            <a:srgbClr val="FFFFFF"/>
                          </a:solidFill>
                          <a:latin typeface="Segoe UI"/>
                        </a:defRPr>
                      </a:pPr>
                      <a:r>
                        <a:t>Theme</a:t>
                      </a:r>
                    </a:p>
                  </a:txBody>
                  <a:tcPr marL="101600" marR="101600" marT="50800" marB="50800">
                    <a:solidFill>
                      <a:srgbClr val="0078D4"/>
                    </a:solidFill>
                  </a:tcPr>
                </a:tc>
                <a:tc>
                  <a:txBody>
                    <a:bodyPr wrap="square"/>
                    <a:lstStyle/>
                    <a:p>
                      <a:pPr>
                        <a:spcAft>
                          <a:spcPts val="100"/>
                        </a:spcAft>
                        <a:defRPr sz="1000" b="1">
                          <a:solidFill>
                            <a:srgbClr val="FFFFFF"/>
                          </a:solidFill>
                          <a:latin typeface="Segoe UI"/>
                        </a:defRPr>
                      </a:pPr>
                      <a:r>
                        <a:t>Problem Found in Production</a:t>
                      </a:r>
                    </a:p>
                  </a:txBody>
                  <a:tcPr marL="101600" marR="101600" marT="50800" marB="50800">
                    <a:solidFill>
                      <a:srgbClr val="0078D4"/>
                    </a:solidFill>
                  </a:tcPr>
                </a:tc>
                <a:tc>
                  <a:txBody>
                    <a:bodyPr wrap="square"/>
                    <a:lstStyle/>
                    <a:p>
                      <a:pPr>
                        <a:spcAft>
                          <a:spcPts val="100"/>
                        </a:spcAft>
                        <a:defRPr sz="1000" b="1">
                          <a:solidFill>
                            <a:srgbClr val="FFFFFF"/>
                          </a:solidFill>
                          <a:latin typeface="Segoe UI"/>
                        </a:defRPr>
                      </a:pPr>
                      <a:r>
                        <a:t>Upstream Fix (Exemplar PRs)</a:t>
                      </a:r>
                    </a:p>
                  </a:txBody>
                  <a:tcPr marL="101600" marR="101600" marT="50800" marB="50800">
                    <a:solidFill>
                      <a:srgbClr val="0078D4"/>
                    </a:solidFill>
                  </a:tcPr>
                </a:tc>
              </a:tr>
              <a:tr h="384048">
                <a:tc>
                  <a:txBody>
                    <a:bodyPr wrap="square"/>
                    <a:lstStyle/>
                    <a:p>
                      <a:pPr>
                        <a:spcAft>
                          <a:spcPts val="100"/>
                        </a:spcAft>
                        <a:defRPr sz="1000">
                          <a:solidFill>
                            <a:srgbClr val="323130"/>
                          </a:solidFill>
                          <a:latin typeface="Segoe UI"/>
                        </a:defRPr>
                      </a:pPr>
                      <a:r>
                        <a:t>Semantic Parity</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Null handling diffs between Spark &amp; Velox broke TPC-DS correctness</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Velox: collect_list/collect_set RESPECT NULLS #16328 #16416</a:t>
                      </a:r>
                    </a:p>
                    <a:p>
                      <a:pPr>
                        <a:spcAft>
                          <a:spcPts val="100"/>
                        </a:spcAft>
                        <a:defRPr sz="1000">
                          <a:solidFill>
                            <a:srgbClr val="323130"/>
                          </a:solidFill>
                          <a:latin typeface="Segoe UI"/>
                        </a:defRPr>
                      </a:pPr>
                      <a:r>
                        <a:t>Gluten: assert_not_null translation #11685</a:t>
                      </a:r>
                    </a:p>
                    <a:p>
                      <a:pPr>
                        <a:spcAft>
                          <a:spcPts val="100"/>
                        </a:spcAft>
                        <a:defRPr sz="1000">
                          <a:solidFill>
                            <a:srgbClr val="323130"/>
                          </a:solidFill>
                          <a:latin typeface="Segoe UI"/>
                        </a:defRPr>
                      </a:pPr>
                      <a:r>
                        <a:t>Velox: lambda index filter(array,(x,i)→...) #16334</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r>
                        <a:t>Fallback Reduction</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Excessive ColumnarToRow transitions from unsupported expressions</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Gluten: dynamic filter pushdown #11657</a:t>
                      </a:r>
                    </a:p>
                    <a:p>
                      <a:pPr>
                        <a:spcAft>
                          <a:spcPts val="100"/>
                        </a:spcAft>
                        <a:defRPr sz="1000">
                          <a:solidFill>
                            <a:srgbClr val="323130"/>
                          </a:solidFill>
                          <a:latin typeface="Segoe UI"/>
                        </a:defRPr>
                      </a:pPr>
                      <a:r>
                        <a:t>Gluten: LOGICAL_PLAN_TAG propagation #11833 (150/150 tests)</a:t>
                      </a:r>
                    </a:p>
                    <a:p>
                      <a:pPr>
                        <a:spcAft>
                          <a:spcPts val="100"/>
                        </a:spcAft>
                        <a:defRPr sz="1000">
                          <a:solidFill>
                            <a:srgbClr val="323130"/>
                          </a:solidFill>
                          <a:latin typeface="Segoe UI"/>
                        </a:defRPr>
                      </a:pPr>
                      <a:r>
                        <a:t>Velox: setConstantInputs aggregate hook #16624</a:t>
                      </a:r>
                    </a:p>
                  </a:txBody>
                  <a:tcPr marL="101600" marR="101600" marT="50800" marB="50800">
                    <a:solidFill>
                      <a:srgbClr val="FAF9F8"/>
                    </a:solidFill>
                  </a:tcPr>
                </a:tc>
              </a:tr>
              <a:tr h="384048">
                <a:tc>
                  <a:txBody>
                    <a:bodyPr wrap="square"/>
                    <a:lstStyle/>
                    <a:p>
                      <a:pPr>
                        <a:spcAft>
                          <a:spcPts val="100"/>
                        </a:spcAft>
                        <a:defRPr sz="1000">
                          <a:solidFill>
                            <a:srgbClr val="323130"/>
                          </a:solidFill>
                          <a:latin typeface="Segoe UI"/>
                        </a:defRPr>
                      </a:pPr>
                      <a:r>
                        <a:t>Performance &amp; Scale</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Batch-size limits, spill estimation errors, Spark 4.x readiness</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Velox: removed FlatNoNulls batch-size limit #16607</a:t>
                      </a:r>
                    </a:p>
                    <a:p>
                      <a:pPr>
                        <a:spcAft>
                          <a:spcPts val="100"/>
                        </a:spcAft>
                        <a:defRPr sz="1000">
                          <a:solidFill>
                            <a:srgbClr val="323130"/>
                          </a:solidFill>
                          <a:latin typeface="Segoe UI"/>
                        </a:defRPr>
                      </a:pPr>
                      <a:r>
                        <a:t>Velox: PrefixSort memory-estimation overflow fix #15789</a:t>
                      </a:r>
                    </a:p>
                    <a:p>
                      <a:pPr>
                        <a:spcAft>
                          <a:spcPts val="100"/>
                        </a:spcAft>
                        <a:defRPr sz="1000">
                          <a:solidFill>
                            <a:srgbClr val="323130"/>
                          </a:solidFill>
                          <a:latin typeface="Segoe UI"/>
                        </a:defRPr>
                      </a:pPr>
                      <a:r>
                        <a:t>Gluten: Spark 4.x - 8 test suites enabled #11816</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r>
                        <a:t>Observability</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Missing native metrics slowed production triage</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Gluten: metrics fidelity for Generate/join/agg #11861</a:t>
                      </a:r>
                    </a:p>
                    <a:p>
                      <a:pPr>
                        <a:spcAft>
                          <a:spcPts val="100"/>
                        </a:spcAft>
                        <a:defRPr sz="1000">
                          <a:solidFill>
                            <a:srgbClr val="323130"/>
                          </a:solidFill>
                          <a:latin typeface="Segoe UI"/>
                        </a:defRPr>
                      </a:pPr>
                      <a:r>
                        <a:t>Gluten: scan-path formatter reuse #11843</a:t>
                      </a:r>
                    </a:p>
                  </a:txBody>
                  <a:tcPr marL="101600" marR="101600" marT="50800" marB="50800">
                    <a:solidFill>
                      <a:srgbClr val="FAF9F8"/>
                    </a:solidFill>
                  </a:tcPr>
                </a:tc>
              </a:tr>
              <a:tr h="384048">
                <a:tc>
                  <a:txBody>
                    <a:bodyPr wrap="square"/>
                    <a:lstStyle/>
                    <a:p>
                      <a:pPr>
                        <a:spcAft>
                          <a:spcPts val="100"/>
                        </a:spcAft>
                        <a:defRPr sz="1000">
                          <a:solidFill>
                            <a:srgbClr val="323130"/>
                          </a:solidFill>
                          <a:latin typeface="Segoe UI"/>
                        </a:defRPr>
                      </a:pPr>
                      <a:r>
                        <a:t>TLP Graduation</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Post-graduation repo cleanup needed</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Gluten: removed incubating refs, CI/release updates #11737-#11742</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p>
                  </a:txBody>
                  <a:tcPr marL="101600" marR="101600" marT="50800" marB="50800">
                    <a:solidFill>
                      <a:srgbClr val="FAF9F8"/>
                    </a:solidFill>
                  </a:tcPr>
                </a:tc>
              </a:tr>
            </a:tbl>
          </a:graphicData>
        </a:graphic>
      </p:graphicFrame>
      <p:sp>
        <p:nvSpPr>
          <p:cNvPr id="6" name="TextBox 5"/>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7" name="TextBox 6"/>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05</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Fabric Native Execution Engine</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Productionizing Gluten + Velox in Microsoft Fabric</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Productionizing Gluten + Velox in Microsoft Fabric</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188720"/>
            <a:ext cx="5029200" cy="6858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61872"/>
            <a:ext cx="4754880" cy="548640"/>
          </a:xfrm>
          <a:prstGeom prst="rect">
            <a:avLst/>
          </a:prstGeom>
          <a:noFill/>
        </p:spPr>
        <p:txBody>
          <a:bodyPr wrap="square">
            <a:spAutoFit/>
          </a:bodyPr>
          <a:lstStyle/>
          <a:p>
            <a:pPr algn="ctr">
              <a:spcAft>
                <a:spcPts val="200"/>
              </a:spcAft>
              <a:defRPr sz="1300" b="1">
                <a:solidFill>
                  <a:srgbClr val="FFFFFF"/>
                </a:solidFill>
                <a:latin typeface="Segoe UI"/>
              </a:defRPr>
            </a:pPr>
            <a:r>
              <a:t>Fabric Runtime 1.3</a:t>
            </a:r>
            <a:br/>
            <a:r>
              <a:t>Spark 3.5  |  Delta Lake 3.2</a:t>
            </a:r>
          </a:p>
        </p:txBody>
      </p:sp>
      <p:sp>
        <p:nvSpPr>
          <p:cNvPr id="6" name="TextBox 5"/>
          <p:cNvSpPr txBox="1"/>
          <p:nvPr/>
        </p:nvSpPr>
        <p:spPr>
          <a:xfrm>
            <a:off x="2926080" y="1847088"/>
            <a:ext cx="457200" cy="274320"/>
          </a:xfrm>
          <a:prstGeom prst="rect">
            <a:avLst/>
          </a:prstGeom>
          <a:noFill/>
        </p:spPr>
        <p:txBody>
          <a:bodyPr wrap="square">
            <a:spAutoFit/>
          </a:bodyPr>
          <a:lstStyle/>
          <a:p>
            <a:pPr algn="ctr">
              <a:spcAft>
                <a:spcPts val="200"/>
              </a:spcAft>
              <a:defRPr sz="1400" b="0">
                <a:solidFill>
                  <a:srgbClr val="0078D4"/>
                </a:solidFill>
                <a:latin typeface="Segoe UI"/>
              </a:defRPr>
            </a:pPr>
            <a:r>
              <a:t>▼</a:t>
            </a:r>
          </a:p>
        </p:txBody>
      </p:sp>
      <p:sp>
        <p:nvSpPr>
          <p:cNvPr id="7" name="Rounded Rectangle 6"/>
          <p:cNvSpPr/>
          <p:nvPr/>
        </p:nvSpPr>
        <p:spPr>
          <a:xfrm>
            <a:off x="731520" y="2148840"/>
            <a:ext cx="5029200" cy="685800"/>
          </a:xfrm>
          <a:prstGeom prst="roundRect">
            <a:avLst/>
          </a:prstGeom>
          <a:solidFill>
            <a:srgbClr val="886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21992"/>
            <a:ext cx="4754880" cy="548640"/>
          </a:xfrm>
          <a:prstGeom prst="rect">
            <a:avLst/>
          </a:prstGeom>
          <a:noFill/>
        </p:spPr>
        <p:txBody>
          <a:bodyPr wrap="square">
            <a:spAutoFit/>
          </a:bodyPr>
          <a:lstStyle/>
          <a:p>
            <a:pPr algn="ctr">
              <a:spcAft>
                <a:spcPts val="200"/>
              </a:spcAft>
              <a:defRPr sz="1300" b="1">
                <a:solidFill>
                  <a:srgbClr val="FFFFFF"/>
                </a:solidFill>
                <a:latin typeface="Segoe UI"/>
              </a:defRPr>
            </a:pPr>
            <a:r>
              <a:t>NEE — Gluten + Velox (C++)</a:t>
            </a:r>
          </a:p>
        </p:txBody>
      </p:sp>
      <p:sp>
        <p:nvSpPr>
          <p:cNvPr id="9" name="TextBox 8"/>
          <p:cNvSpPr txBox="1"/>
          <p:nvPr/>
        </p:nvSpPr>
        <p:spPr>
          <a:xfrm>
            <a:off x="2926080" y="2807208"/>
            <a:ext cx="457200" cy="274320"/>
          </a:xfrm>
          <a:prstGeom prst="rect">
            <a:avLst/>
          </a:prstGeom>
          <a:noFill/>
        </p:spPr>
        <p:txBody>
          <a:bodyPr wrap="square">
            <a:spAutoFit/>
          </a:bodyPr>
          <a:lstStyle/>
          <a:p>
            <a:pPr algn="ctr">
              <a:spcAft>
                <a:spcPts val="200"/>
              </a:spcAft>
              <a:defRPr sz="1400" b="0">
                <a:solidFill>
                  <a:srgbClr val="0078D4"/>
                </a:solidFill>
                <a:latin typeface="Segoe UI"/>
              </a:defRPr>
            </a:pPr>
            <a:r>
              <a:t>▼</a:t>
            </a:r>
          </a:p>
        </p:txBody>
      </p:sp>
      <p:sp>
        <p:nvSpPr>
          <p:cNvPr id="10" name="Rounded Rectangle 9"/>
          <p:cNvSpPr/>
          <p:nvPr/>
        </p:nvSpPr>
        <p:spPr>
          <a:xfrm>
            <a:off x="731520" y="3108960"/>
            <a:ext cx="5029200" cy="68580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182112"/>
            <a:ext cx="4754880" cy="548640"/>
          </a:xfrm>
          <a:prstGeom prst="rect">
            <a:avLst/>
          </a:prstGeom>
          <a:noFill/>
        </p:spPr>
        <p:txBody>
          <a:bodyPr wrap="square">
            <a:spAutoFit/>
          </a:bodyPr>
          <a:lstStyle/>
          <a:p>
            <a:pPr algn="ctr">
              <a:spcAft>
                <a:spcPts val="200"/>
              </a:spcAft>
              <a:defRPr sz="1300" b="1">
                <a:solidFill>
                  <a:srgbClr val="FFFFFF"/>
                </a:solidFill>
                <a:latin typeface="Segoe UI"/>
              </a:defRPr>
            </a:pPr>
            <a:r>
              <a:t>OneLake — Delta / Parquet / CSV</a:t>
            </a:r>
          </a:p>
        </p:txBody>
      </p:sp>
      <p:sp>
        <p:nvSpPr>
          <p:cNvPr id="12" name="Rounded Rectangle 11"/>
          <p:cNvSpPr/>
          <p:nvPr/>
        </p:nvSpPr>
        <p:spPr>
          <a:xfrm>
            <a:off x="1371600" y="4160520"/>
            <a:ext cx="3474720" cy="36576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4187952"/>
            <a:ext cx="3474720" cy="320040"/>
          </a:xfrm>
          <a:prstGeom prst="rect">
            <a:avLst/>
          </a:prstGeom>
          <a:noFill/>
        </p:spPr>
        <p:txBody>
          <a:bodyPr wrap="square">
            <a:spAutoFit/>
          </a:bodyPr>
          <a:lstStyle/>
          <a:p>
            <a:pPr algn="ctr">
              <a:spcAft>
                <a:spcPts val="200"/>
              </a:spcAft>
              <a:defRPr sz="1200" b="1">
                <a:solidFill>
                  <a:srgbClr val="0078D4"/>
                </a:solidFill>
                <a:latin typeface="Cascadia Code"/>
              </a:defRPr>
            </a:pPr>
            <a:r>
              <a:t>spark.native.enabled = true</a:t>
            </a:r>
          </a:p>
        </p:txBody>
      </p:sp>
      <p:sp>
        <p:nvSpPr>
          <p:cNvPr id="14" name="TextBox 13"/>
          <p:cNvSpPr txBox="1"/>
          <p:nvPr/>
        </p:nvSpPr>
        <p:spPr>
          <a:xfrm>
            <a:off x="731520" y="4663440"/>
            <a:ext cx="5029200" cy="365760"/>
          </a:xfrm>
          <a:prstGeom prst="rect">
            <a:avLst/>
          </a:prstGeom>
          <a:noFill/>
        </p:spPr>
        <p:txBody>
          <a:bodyPr wrap="square">
            <a:spAutoFit/>
          </a:bodyPr>
          <a:lstStyle/>
          <a:p>
            <a:pPr algn="ctr">
              <a:spcAft>
                <a:spcPts val="200"/>
              </a:spcAft>
              <a:defRPr sz="1000" b="0">
                <a:solidFill>
                  <a:srgbClr val="605E5C"/>
                </a:solidFill>
                <a:latin typeface="Segoe UI"/>
              </a:defRPr>
            </a:pPr>
            <a:r>
              <a:t>Optimal for: complex joins/aggregations, high-volume ETL, interactive exploration, Delta-heavy workloads</a:t>
            </a:r>
          </a:p>
        </p:txBody>
      </p:sp>
      <p:sp>
        <p:nvSpPr>
          <p:cNvPr id="15" name="Rounded Rectangle 14"/>
          <p:cNvSpPr/>
          <p:nvPr/>
        </p:nvSpPr>
        <p:spPr>
          <a:xfrm>
            <a:off x="6217920" y="1188720"/>
            <a:ext cx="2560320" cy="1554480"/>
          </a:xfrm>
          <a:prstGeom prst="roundRect">
            <a:avLst/>
          </a:prstGeom>
          <a:solidFill>
            <a:srgbClr val="FFFFFF"/>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298448"/>
            <a:ext cx="2560320" cy="411480"/>
          </a:xfrm>
          <a:prstGeom prst="rect">
            <a:avLst/>
          </a:prstGeom>
          <a:noFill/>
        </p:spPr>
        <p:txBody>
          <a:bodyPr wrap="square">
            <a:spAutoFit/>
          </a:bodyPr>
          <a:lstStyle/>
          <a:p>
            <a:pPr algn="ctr">
              <a:spcAft>
                <a:spcPts val="200"/>
              </a:spcAft>
              <a:defRPr sz="2800" b="1">
                <a:solidFill>
                  <a:srgbClr val="0078D4"/>
                </a:solidFill>
                <a:latin typeface="Segoe UI"/>
              </a:defRPr>
            </a:pPr>
            <a:r>
              <a:t>~4×</a:t>
            </a:r>
          </a:p>
        </p:txBody>
      </p:sp>
      <p:sp>
        <p:nvSpPr>
          <p:cNvPr id="17" name="TextBox 16"/>
          <p:cNvSpPr txBox="1"/>
          <p:nvPr/>
        </p:nvSpPr>
        <p:spPr>
          <a:xfrm>
            <a:off x="6291072" y="1691640"/>
            <a:ext cx="2414016" cy="320040"/>
          </a:xfrm>
          <a:prstGeom prst="rect">
            <a:avLst/>
          </a:prstGeom>
          <a:noFill/>
        </p:spPr>
        <p:txBody>
          <a:bodyPr wrap="square">
            <a:spAutoFit/>
          </a:bodyPr>
          <a:lstStyle/>
          <a:p>
            <a:pPr algn="ctr">
              <a:spcAft>
                <a:spcPts val="200"/>
              </a:spcAft>
              <a:defRPr sz="1000" b="0">
                <a:solidFill>
                  <a:srgbClr val="323130"/>
                </a:solidFill>
                <a:latin typeface="Segoe UI"/>
              </a:defRPr>
            </a:pPr>
            <a:r>
              <a:t>TPC-DS SF1000</a:t>
            </a:r>
            <a:br/>
            <a:r>
              <a:t>(geometric mean)</a:t>
            </a:r>
          </a:p>
        </p:txBody>
      </p:sp>
      <p:sp>
        <p:nvSpPr>
          <p:cNvPr id="18" name="TextBox 17"/>
          <p:cNvSpPr txBox="1"/>
          <p:nvPr/>
        </p:nvSpPr>
        <p:spPr>
          <a:xfrm>
            <a:off x="6291072" y="1965960"/>
            <a:ext cx="2414016" cy="228600"/>
          </a:xfrm>
          <a:prstGeom prst="rect">
            <a:avLst/>
          </a:prstGeom>
          <a:noFill/>
        </p:spPr>
        <p:txBody>
          <a:bodyPr wrap="square">
            <a:spAutoFit/>
          </a:bodyPr>
          <a:lstStyle/>
          <a:p>
            <a:pPr algn="ctr">
              <a:spcAft>
                <a:spcPts val="200"/>
              </a:spcAft>
              <a:defRPr sz="800" b="0">
                <a:solidFill>
                  <a:srgbClr val="605E5C"/>
                </a:solidFill>
                <a:latin typeface="Segoe UI"/>
              </a:defRPr>
            </a:pPr>
            <a:r>
              <a:t>[Internal Testing, Runtime 1.3]</a:t>
            </a:r>
          </a:p>
        </p:txBody>
      </p:sp>
      <p:sp>
        <p:nvSpPr>
          <p:cNvPr id="19" name="Rounded Rectangle 18"/>
          <p:cNvSpPr/>
          <p:nvPr/>
        </p:nvSpPr>
        <p:spPr>
          <a:xfrm>
            <a:off x="9052560" y="1188720"/>
            <a:ext cx="2560320" cy="1554480"/>
          </a:xfrm>
          <a:prstGeom prst="roundRect">
            <a:avLst/>
          </a:prstGeom>
          <a:solidFill>
            <a:srgbClr val="FFFFFF"/>
          </a:solidFill>
          <a:ln w="254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0" y="1298448"/>
            <a:ext cx="2560320" cy="411480"/>
          </a:xfrm>
          <a:prstGeom prst="rect">
            <a:avLst/>
          </a:prstGeom>
          <a:noFill/>
        </p:spPr>
        <p:txBody>
          <a:bodyPr wrap="square">
            <a:spAutoFit/>
          </a:bodyPr>
          <a:lstStyle/>
          <a:p>
            <a:pPr algn="ctr">
              <a:spcAft>
                <a:spcPts val="200"/>
              </a:spcAft>
              <a:defRPr sz="2800" b="1">
                <a:solidFill>
                  <a:srgbClr val="107C10"/>
                </a:solidFill>
                <a:latin typeface="Segoe UI"/>
              </a:defRPr>
            </a:pPr>
            <a:r>
              <a:t>Up to 6×</a:t>
            </a:r>
          </a:p>
        </p:txBody>
      </p:sp>
      <p:sp>
        <p:nvSpPr>
          <p:cNvPr id="21" name="TextBox 20"/>
          <p:cNvSpPr txBox="1"/>
          <p:nvPr/>
        </p:nvSpPr>
        <p:spPr>
          <a:xfrm>
            <a:off x="9125712" y="1691640"/>
            <a:ext cx="2414016" cy="320040"/>
          </a:xfrm>
          <a:prstGeom prst="rect">
            <a:avLst/>
          </a:prstGeom>
          <a:noFill/>
        </p:spPr>
        <p:txBody>
          <a:bodyPr wrap="square">
            <a:spAutoFit/>
          </a:bodyPr>
          <a:lstStyle/>
          <a:p>
            <a:pPr algn="ctr">
              <a:spcAft>
                <a:spcPts val="200"/>
              </a:spcAft>
              <a:defRPr sz="1000" b="0">
                <a:solidFill>
                  <a:srgbClr val="323130"/>
                </a:solidFill>
                <a:latin typeface="Segoe UI"/>
              </a:defRPr>
            </a:pPr>
            <a:r>
              <a:t>End-to-End</a:t>
            </a:r>
            <a:br/>
            <a:r>
              <a:t>(query-specific, ETL)</a:t>
            </a:r>
          </a:p>
        </p:txBody>
      </p:sp>
      <p:sp>
        <p:nvSpPr>
          <p:cNvPr id="22" name="TextBox 21"/>
          <p:cNvSpPr txBox="1"/>
          <p:nvPr/>
        </p:nvSpPr>
        <p:spPr>
          <a:xfrm>
            <a:off x="9125712" y="1965960"/>
            <a:ext cx="2414016" cy="228600"/>
          </a:xfrm>
          <a:prstGeom prst="rect">
            <a:avLst/>
          </a:prstGeom>
          <a:noFill/>
        </p:spPr>
        <p:txBody>
          <a:bodyPr wrap="square">
            <a:spAutoFit/>
          </a:bodyPr>
          <a:lstStyle/>
          <a:p>
            <a:pPr algn="ctr">
              <a:spcAft>
                <a:spcPts val="200"/>
              </a:spcAft>
              <a:defRPr sz="800" b="0">
                <a:solidFill>
                  <a:srgbClr val="605E5C"/>
                </a:solidFill>
                <a:latin typeface="Segoe UI"/>
              </a:defRPr>
            </a:pPr>
            <a:r>
              <a:t>Ref: GA Blog</a:t>
            </a:r>
          </a:p>
        </p:txBody>
      </p:sp>
      <p:sp>
        <p:nvSpPr>
          <p:cNvPr id="23" name="Rounded Rectangle 22"/>
          <p:cNvSpPr/>
          <p:nvPr/>
        </p:nvSpPr>
        <p:spPr>
          <a:xfrm>
            <a:off x="6217920" y="3017520"/>
            <a:ext cx="2560320" cy="1554480"/>
          </a:xfrm>
          <a:prstGeom prst="roundRect">
            <a:avLst/>
          </a:prstGeom>
          <a:solidFill>
            <a:srgbClr val="FFFFFF"/>
          </a:solidFill>
          <a:ln w="25400">
            <a:solidFill>
              <a:srgbClr val="886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3127248"/>
            <a:ext cx="2560320" cy="411480"/>
          </a:xfrm>
          <a:prstGeom prst="rect">
            <a:avLst/>
          </a:prstGeom>
          <a:noFill/>
        </p:spPr>
        <p:txBody>
          <a:bodyPr wrap="square">
            <a:spAutoFit/>
          </a:bodyPr>
          <a:lstStyle/>
          <a:p>
            <a:pPr algn="ctr">
              <a:spcAft>
                <a:spcPts val="200"/>
              </a:spcAft>
              <a:defRPr sz="2800" b="1">
                <a:solidFill>
                  <a:srgbClr val="886CE4"/>
                </a:solidFill>
                <a:latin typeface="Segoe UI"/>
              </a:defRPr>
            </a:pPr>
            <a:r>
              <a:t>~83%</a:t>
            </a:r>
          </a:p>
        </p:txBody>
      </p:sp>
      <p:sp>
        <p:nvSpPr>
          <p:cNvPr id="25" name="TextBox 24"/>
          <p:cNvSpPr txBox="1"/>
          <p:nvPr/>
        </p:nvSpPr>
        <p:spPr>
          <a:xfrm>
            <a:off x="6291072" y="3520440"/>
            <a:ext cx="2414016" cy="320040"/>
          </a:xfrm>
          <a:prstGeom prst="rect">
            <a:avLst/>
          </a:prstGeom>
          <a:noFill/>
        </p:spPr>
        <p:txBody>
          <a:bodyPr wrap="square">
            <a:spAutoFit/>
          </a:bodyPr>
          <a:lstStyle/>
          <a:p>
            <a:pPr algn="ctr">
              <a:spcAft>
                <a:spcPts val="200"/>
              </a:spcAft>
              <a:defRPr sz="1000" b="0">
                <a:solidFill>
                  <a:srgbClr val="323130"/>
                </a:solidFill>
                <a:latin typeface="Segoe UI"/>
              </a:defRPr>
            </a:pPr>
            <a:r>
              <a:t>Runtime Reduction</a:t>
            </a:r>
            <a:br/>
            <a:r>
              <a:t>(cost savings)</a:t>
            </a:r>
          </a:p>
        </p:txBody>
      </p:sp>
      <p:sp>
        <p:nvSpPr>
          <p:cNvPr id="26" name="TextBox 25"/>
          <p:cNvSpPr txBox="1"/>
          <p:nvPr/>
        </p:nvSpPr>
        <p:spPr>
          <a:xfrm>
            <a:off x="6291072" y="3794760"/>
            <a:ext cx="2414016" cy="228600"/>
          </a:xfrm>
          <a:prstGeom prst="rect">
            <a:avLst/>
          </a:prstGeom>
          <a:noFill/>
        </p:spPr>
        <p:txBody>
          <a:bodyPr wrap="square">
            <a:spAutoFit/>
          </a:bodyPr>
          <a:lstStyle/>
          <a:p>
            <a:pPr algn="ctr">
              <a:spcAft>
                <a:spcPts val="200"/>
              </a:spcAft>
              <a:defRPr sz="800" b="0">
                <a:solidFill>
                  <a:srgbClr val="605E5C"/>
                </a:solidFill>
                <a:latin typeface="Segoe UI"/>
              </a:defRPr>
            </a:pPr>
            <a:r>
              <a:t>Ref: Under the Hood Blog</a:t>
            </a:r>
          </a:p>
        </p:txBody>
      </p:sp>
      <p:sp>
        <p:nvSpPr>
          <p:cNvPr id="27" name="Rounded Rectangle 26"/>
          <p:cNvSpPr/>
          <p:nvPr/>
        </p:nvSpPr>
        <p:spPr>
          <a:xfrm>
            <a:off x="9052560" y="3017520"/>
            <a:ext cx="2560320" cy="1554480"/>
          </a:xfrm>
          <a:prstGeom prst="roundRect">
            <a:avLst/>
          </a:prstGeom>
          <a:solidFill>
            <a:srgbClr val="FFFFFF"/>
          </a:solidFill>
          <a:ln w="2540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0" y="3127248"/>
            <a:ext cx="2560320" cy="411480"/>
          </a:xfrm>
          <a:prstGeom prst="rect">
            <a:avLst/>
          </a:prstGeom>
          <a:noFill/>
        </p:spPr>
        <p:txBody>
          <a:bodyPr wrap="square">
            <a:spAutoFit/>
          </a:bodyPr>
          <a:lstStyle/>
          <a:p>
            <a:pPr algn="ctr">
              <a:spcAft>
                <a:spcPts val="200"/>
              </a:spcAft>
              <a:defRPr sz="2800" b="1">
                <a:solidFill>
                  <a:srgbClr val="FF8C00"/>
                </a:solidFill>
                <a:latin typeface="Segoe UI"/>
              </a:defRPr>
            </a:pPr>
            <a:r>
              <a:t>Included</a:t>
            </a:r>
          </a:p>
        </p:txBody>
      </p:sp>
      <p:sp>
        <p:nvSpPr>
          <p:cNvPr id="29" name="TextBox 28"/>
          <p:cNvSpPr txBox="1"/>
          <p:nvPr/>
        </p:nvSpPr>
        <p:spPr>
          <a:xfrm>
            <a:off x="9125712" y="3520440"/>
            <a:ext cx="2414016" cy="320040"/>
          </a:xfrm>
          <a:prstGeom prst="rect">
            <a:avLst/>
          </a:prstGeom>
          <a:noFill/>
        </p:spPr>
        <p:txBody>
          <a:bodyPr wrap="square">
            <a:spAutoFit/>
          </a:bodyPr>
          <a:lstStyle/>
          <a:p>
            <a:pPr algn="ctr">
              <a:spcAft>
                <a:spcPts val="200"/>
              </a:spcAft>
              <a:defRPr sz="1000" b="0">
                <a:solidFill>
                  <a:srgbClr val="323130"/>
                </a:solidFill>
                <a:latin typeface="Segoe UI"/>
              </a:defRPr>
            </a:pPr>
            <a:r>
              <a:t>In Fabric Runtime</a:t>
            </a:r>
            <a:br/>
            <a:r>
              <a:t>(no extra cost)</a:t>
            </a:r>
          </a:p>
        </p:txBody>
      </p:sp>
      <p:sp>
        <p:nvSpPr>
          <p:cNvPr id="30" name="TextBox 29"/>
          <p:cNvSpPr txBox="1"/>
          <p:nvPr/>
        </p:nvSpPr>
        <p:spPr>
          <a:xfrm>
            <a:off x="9125712" y="3794760"/>
            <a:ext cx="2414016" cy="228600"/>
          </a:xfrm>
          <a:prstGeom prst="rect">
            <a:avLst/>
          </a:prstGeom>
          <a:noFill/>
        </p:spPr>
        <p:txBody>
          <a:bodyPr wrap="square">
            <a:spAutoFit/>
          </a:bodyPr>
          <a:lstStyle/>
          <a:p>
            <a:pPr algn="ctr">
              <a:spcAft>
                <a:spcPts val="200"/>
              </a:spcAft>
              <a:defRPr sz="800" b="0">
                <a:solidFill>
                  <a:srgbClr val="605E5C"/>
                </a:solidFill>
                <a:latin typeface="Segoe UI"/>
              </a:defRPr>
            </a:pPr>
            <a:r>
              <a:t>Ref: No Extra Cost Blog</a:t>
            </a:r>
          </a:p>
        </p:txBody>
      </p:sp>
      <p:sp>
        <p:nvSpPr>
          <p:cNvPr id="31" name="TextBox 30"/>
          <p:cNvSpPr txBox="1"/>
          <p:nvPr/>
        </p:nvSpPr>
        <p:spPr>
          <a:xfrm>
            <a:off x="6217920" y="4937760"/>
            <a:ext cx="5212080" cy="274320"/>
          </a:xfrm>
          <a:prstGeom prst="rect">
            <a:avLst/>
          </a:prstGeom>
          <a:noFill/>
        </p:spPr>
        <p:txBody>
          <a:bodyPr wrap="square">
            <a:spAutoFit/>
          </a:bodyPr>
          <a:lstStyle/>
          <a:p>
            <a:pPr algn="ctr">
              <a:spcAft>
                <a:spcPts val="200"/>
              </a:spcAft>
              <a:defRPr sz="900" b="0">
                <a:solidFill>
                  <a:srgbClr val="605E5C"/>
                </a:solidFill>
                <a:latin typeface="Segoe UI"/>
              </a:defRPr>
            </a:pPr>
            <a:r>
              <a:t>TPC-DS: synthetic benchmark on homogeneous data. Production results vary by workload.</a:t>
            </a:r>
          </a:p>
        </p:txBody>
      </p:sp>
      <p:sp>
        <p:nvSpPr>
          <p:cNvPr id="32" name="TextBox 31"/>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33" name="TextBox 32"/>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Fabric Extensions Built on Open-Source Gluten</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097280"/>
          <a:ext cx="10698480" cy="3072384"/>
        </p:xfrm>
        <a:graphic>
          <a:graphicData uri="http://schemas.openxmlformats.org/drawingml/2006/table">
            <a:tbl>
              <a:tblPr firstRow="1" bandRow="1">
                <a:tableStyleId>{5C22544A-7EE6-4342-B048-85BDC9FD1C3A}</a:tableStyleId>
              </a:tblPr>
              <a:tblGrid>
                <a:gridCol w="1645920"/>
                <a:gridCol w="2286000"/>
                <a:gridCol w="6766560"/>
              </a:tblGrid>
              <a:tr h="384048">
                <a:tc>
                  <a:txBody>
                    <a:bodyPr wrap="square"/>
                    <a:lstStyle/>
                    <a:p>
                      <a:pPr>
                        <a:spcAft>
                          <a:spcPts val="100"/>
                        </a:spcAft>
                        <a:defRPr sz="1000" b="1">
                          <a:solidFill>
                            <a:srgbClr val="FFFFFF"/>
                          </a:solidFill>
                          <a:latin typeface="Segoe UI"/>
                        </a:defRPr>
                      </a:pPr>
                      <a:r>
                        <a:t>Category</a:t>
                      </a:r>
                    </a:p>
                  </a:txBody>
                  <a:tcPr marL="101600" marR="101600" marT="50800" marB="50800">
                    <a:solidFill>
                      <a:srgbClr val="0078D4"/>
                    </a:solidFill>
                  </a:tcPr>
                </a:tc>
                <a:tc>
                  <a:txBody>
                    <a:bodyPr wrap="square"/>
                    <a:lstStyle/>
                    <a:p>
                      <a:pPr>
                        <a:spcAft>
                          <a:spcPts val="100"/>
                        </a:spcAft>
                        <a:defRPr sz="1000" b="1">
                          <a:solidFill>
                            <a:srgbClr val="FFFFFF"/>
                          </a:solidFill>
                          <a:latin typeface="Segoe UI"/>
                        </a:defRPr>
                      </a:pPr>
                      <a:r>
                        <a:t>Feature</a:t>
                      </a:r>
                    </a:p>
                  </a:txBody>
                  <a:tcPr marL="101600" marR="101600" marT="50800" marB="50800">
                    <a:solidFill>
                      <a:srgbClr val="0078D4"/>
                    </a:solidFill>
                  </a:tcPr>
                </a:tc>
                <a:tc>
                  <a:txBody>
                    <a:bodyPr wrap="square"/>
                    <a:lstStyle/>
                    <a:p>
                      <a:pPr>
                        <a:spcAft>
                          <a:spcPts val="100"/>
                        </a:spcAft>
                        <a:defRPr sz="1000" b="1">
                          <a:solidFill>
                            <a:srgbClr val="FFFFFF"/>
                          </a:solidFill>
                          <a:latin typeface="Segoe UI"/>
                        </a:defRPr>
                      </a:pPr>
                      <a:r>
                        <a:t>How It Works</a:t>
                      </a:r>
                    </a:p>
                  </a:txBody>
                  <a:tcPr marL="101600" marR="101600" marT="50800" marB="50800">
                    <a:solidFill>
                      <a:srgbClr val="0078D4"/>
                    </a:solidFill>
                  </a:tcPr>
                </a:tc>
              </a:tr>
              <a:tr h="384048">
                <a:tc>
                  <a:txBody>
                    <a:bodyPr wrap="square"/>
                    <a:lstStyle/>
                    <a:p>
                      <a:pPr>
                        <a:spcAft>
                          <a:spcPts val="100"/>
                        </a:spcAft>
                        <a:defRPr sz="1000">
                          <a:solidFill>
                            <a:srgbClr val="323130"/>
                          </a:solidFill>
                          <a:latin typeface="Segoe UI"/>
                        </a:defRPr>
                      </a:pPr>
                      <a:r>
                        <a:t>Security</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Row-Level Security (RLS)</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Policy predicates injected at native scan layer before Velox processes rows — enforced via JNI bridge</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r>
                        <a:t>Security</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Column-Level Security (CLS)</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Column masking applied during Substrait plan generation — masked columns never reach Velox in cleartext</a:t>
                      </a:r>
                    </a:p>
                  </a:txBody>
                  <a:tcPr marL="101600" marR="101600" marT="50800" marB="50800">
                    <a:solidFill>
                      <a:srgbClr val="FAF9F8"/>
                    </a:solidFill>
                  </a:tcPr>
                </a:tc>
              </a:tr>
              <a:tr h="384048">
                <a:tc>
                  <a:txBody>
                    <a:bodyPr wrap="square"/>
                    <a:lstStyle/>
                    <a:p>
                      <a:pPr>
                        <a:spcAft>
                          <a:spcPts val="100"/>
                        </a:spcAft>
                        <a:defRPr sz="1000">
                          <a:solidFill>
                            <a:srgbClr val="323130"/>
                          </a:solidFill>
                          <a:latin typeface="Segoe UI"/>
                        </a:defRPr>
                      </a:pPr>
                      <a:r>
                        <a:t>UDF Support</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Python UDF</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Arrow-based columnar transfer via ArrowEvalPython — data stays columnar across JVM-Python, avoiding Row serialization</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r>
                        <a:t>UDF Support</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Scala UDF</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JNI-bridged execution with native columnar input — supported UDF classes run without ColumnarToRow transition</a:t>
                      </a:r>
                    </a:p>
                  </a:txBody>
                  <a:tcPr marL="101600" marR="101600" marT="50800" marB="50800">
                    <a:solidFill>
                      <a:srgbClr val="FAF9F8"/>
                    </a:solidFill>
                  </a:tcPr>
                </a:tc>
              </a:tr>
              <a:tr h="384048">
                <a:tc>
                  <a:txBody>
                    <a:bodyPr wrap="square"/>
                    <a:lstStyle/>
                    <a:p>
                      <a:pPr>
                        <a:spcAft>
                          <a:spcPts val="100"/>
                        </a:spcAft>
                        <a:defRPr sz="1000">
                          <a:solidFill>
                            <a:srgbClr val="323130"/>
                          </a:solidFill>
                          <a:latin typeface="Segoe UI"/>
                        </a:defRPr>
                      </a:pPr>
                      <a:r>
                        <a:t>Performance</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Memory Management</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Dynamic reservation/release between JVM &amp; Velox allocators — GC pressure signals trigger native spill before OOM</a:t>
                      </a:r>
                    </a:p>
                  </a:txBody>
                  <a:tcPr marL="101600" marR="101600" marT="50800" marB="50800">
                    <a:solidFill>
                      <a:srgbClr val="FFFFFF"/>
                    </a:solidFill>
                  </a:tcPr>
                </a:tc>
              </a:tr>
              <a:tr h="384048">
                <a:tc>
                  <a:txBody>
                    <a:bodyPr wrap="square"/>
                    <a:lstStyle/>
                    <a:p>
                      <a:pPr>
                        <a:spcAft>
                          <a:spcPts val="100"/>
                        </a:spcAft>
                        <a:defRPr sz="1000">
                          <a:solidFill>
                            <a:srgbClr val="323130"/>
                          </a:solidFill>
                          <a:latin typeface="Segoe UI"/>
                        </a:defRPr>
                      </a:pPr>
                      <a:r>
                        <a:t>Performance</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Spill-to-Disk</a:t>
                      </a:r>
                    </a:p>
                  </a:txBody>
                  <a:tcPr marL="101600" marR="101600" marT="50800" marB="50800">
                    <a:solidFill>
                      <a:srgbClr val="FAF9F8"/>
                    </a:solidFill>
                  </a:tcPr>
                </a:tc>
                <a:tc>
                  <a:txBody>
                    <a:bodyPr wrap="square"/>
                    <a:lstStyle/>
                    <a:p>
                      <a:pPr>
                        <a:spcAft>
                          <a:spcPts val="100"/>
                        </a:spcAft>
                        <a:defRPr sz="1000">
                          <a:solidFill>
                            <a:srgbClr val="323130"/>
                          </a:solidFill>
                          <a:latin typeface="Segoe UI"/>
                        </a:defRPr>
                      </a:pPr>
                      <a:r>
                        <a:t>Optimized off-heap spill: sorted spill with compression, async I/O, graceful degradation under pressure</a:t>
                      </a:r>
                    </a:p>
                  </a:txBody>
                  <a:tcPr marL="101600" marR="101600" marT="50800" marB="50800">
                    <a:solidFill>
                      <a:srgbClr val="FAF9F8"/>
                    </a:solidFill>
                  </a:tcPr>
                </a:tc>
              </a:tr>
              <a:tr h="384048">
                <a:tc>
                  <a:txBody>
                    <a:bodyPr wrap="square"/>
                    <a:lstStyle/>
                    <a:p>
                      <a:pPr>
                        <a:spcAft>
                          <a:spcPts val="100"/>
                        </a:spcAft>
                        <a:defRPr sz="1000">
                          <a:solidFill>
                            <a:srgbClr val="323130"/>
                          </a:solidFill>
                          <a:latin typeface="Segoe UI"/>
                        </a:defRPr>
                      </a:pPr>
                      <a:r>
                        <a:t>Performance</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Hash Probe Optimization</a:t>
                      </a:r>
                    </a:p>
                  </a:txBody>
                  <a:tcPr marL="101600" marR="101600" marT="50800" marB="50800">
                    <a:solidFill>
                      <a:srgbClr val="FFFFFF"/>
                    </a:solidFill>
                  </a:tcPr>
                </a:tc>
                <a:tc>
                  <a:txBody>
                    <a:bodyPr wrap="square"/>
                    <a:lstStyle/>
                    <a:p>
                      <a:pPr>
                        <a:spcAft>
                          <a:spcPts val="100"/>
                        </a:spcAft>
                        <a:defRPr sz="1000">
                          <a:solidFill>
                            <a:srgbClr val="323130"/>
                          </a:solidFill>
                          <a:latin typeface="Segoe UI"/>
                        </a:defRPr>
                      </a:pPr>
                      <a:r>
                        <a:t>Improved build-side memory layout for cache locality, explicit prefetch hints for probe-side lookups</a:t>
                      </a:r>
                    </a:p>
                  </a:txBody>
                  <a:tcPr marL="101600" marR="101600" marT="50800" marB="50800">
                    <a:solidFill>
                      <a:srgbClr val="FFFFFF"/>
                    </a:solidFill>
                  </a:tcPr>
                </a:tc>
              </a:tr>
            </a:tbl>
          </a:graphicData>
        </a:graphic>
      </p:graphicFrame>
      <p:sp>
        <p:nvSpPr>
          <p:cNvPr id="5" name="TextBox 4"/>
          <p:cNvSpPr txBox="1"/>
          <p:nvPr/>
        </p:nvSpPr>
        <p:spPr>
          <a:xfrm>
            <a:off x="731520" y="5303520"/>
            <a:ext cx="10515600" cy="274320"/>
          </a:xfrm>
          <a:prstGeom prst="rect">
            <a:avLst/>
          </a:prstGeom>
          <a:noFill/>
        </p:spPr>
        <p:txBody>
          <a:bodyPr wrap="square">
            <a:spAutoFit/>
          </a:bodyPr>
          <a:lstStyle/>
          <a:p>
            <a:pPr algn="l">
              <a:spcAft>
                <a:spcPts val="200"/>
              </a:spcAft>
              <a:defRPr sz="1000" b="0">
                <a:solidFill>
                  <a:srgbClr val="605E5C"/>
                </a:solidFill>
                <a:latin typeface="Segoe UI"/>
              </a:defRPr>
            </a:pPr>
            <a:r>
              <a:t>These are Fabric-specific production hardening layers built on top of OSS Gluten and Velox.</a:t>
            </a:r>
          </a:p>
        </p:txBody>
      </p:sp>
      <p:sp>
        <p:nvSpPr>
          <p:cNvPr id="6" name="TextBox 5"/>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7" name="TextBox 6"/>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Delta &amp; Storage Optimizations + Observability</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Delta &amp; Storage</a:t>
            </a:r>
          </a:p>
        </p:txBody>
      </p:sp>
      <p:graphicFrame>
        <p:nvGraphicFramePr>
          <p:cNvPr id="5" name="Table 4"/>
          <p:cNvGraphicFramePr>
            <a:graphicFrameLocks noGrp="1"/>
          </p:cNvGraphicFramePr>
          <p:nvPr/>
        </p:nvGraphicFramePr>
        <p:xfrm>
          <a:off x="731520" y="1508760"/>
          <a:ext cx="5029200" cy="1920240"/>
        </p:xfrm>
        <a:graphic>
          <a:graphicData uri="http://schemas.openxmlformats.org/drawingml/2006/table">
            <a:tbl>
              <a:tblPr firstRow="1" bandRow="1">
                <a:tableStyleId>{5C22544A-7EE6-4342-B048-85BDC9FD1C3A}</a:tableStyleId>
              </a:tblPr>
              <a:tblGrid>
                <a:gridCol w="1828800"/>
                <a:gridCol w="3200400"/>
              </a:tblGrid>
              <a:tr h="384048">
                <a:tc>
                  <a:txBody>
                    <a:bodyPr wrap="square"/>
                    <a:lstStyle/>
                    <a:p>
                      <a:pPr>
                        <a:spcAft>
                          <a:spcPts val="100"/>
                        </a:spcAft>
                        <a:defRPr sz="1100" b="1">
                          <a:solidFill>
                            <a:srgbClr val="FFFFFF"/>
                          </a:solidFill>
                          <a:latin typeface="Segoe UI"/>
                        </a:defRPr>
                      </a:pPr>
                      <a:r>
                        <a:t>Feature</a:t>
                      </a:r>
                    </a:p>
                  </a:txBody>
                  <a:tcPr marL="101600" marR="101600" marT="50800" marB="50800">
                    <a:solidFill>
                      <a:srgbClr val="0078D4"/>
                    </a:solidFill>
                  </a:tcPr>
                </a:tc>
                <a:tc>
                  <a:txBody>
                    <a:bodyPr wrap="square"/>
                    <a:lstStyle/>
                    <a:p>
                      <a:pPr>
                        <a:spcAft>
                          <a:spcPts val="100"/>
                        </a:spcAft>
                        <a:defRPr sz="1100" b="1">
                          <a:solidFill>
                            <a:srgbClr val="FFFFFF"/>
                          </a:solidFill>
                          <a:latin typeface="Segoe UI"/>
                        </a:defRPr>
                      </a:pPr>
                      <a:r>
                        <a:t>Description</a:t>
                      </a:r>
                    </a:p>
                  </a:txBody>
                  <a:tcPr marL="101600" marR="101600" marT="50800" marB="50800">
                    <a:solidFill>
                      <a:srgbClr val="0078D4"/>
                    </a:solidFill>
                  </a:tcPr>
                </a:tc>
              </a:tr>
              <a:tr h="384048">
                <a:tc>
                  <a:txBody>
                    <a:bodyPr wrap="square"/>
                    <a:lstStyle/>
                    <a:p>
                      <a:pPr>
                        <a:spcAft>
                          <a:spcPts val="100"/>
                        </a:spcAft>
                        <a:defRPr sz="1100">
                          <a:solidFill>
                            <a:srgbClr val="323130"/>
                          </a:solidFill>
                          <a:latin typeface="Segoe UI"/>
                        </a:defRPr>
                      </a:pPr>
                      <a:r>
                        <a:t>V-Order</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Default columnar sorting for optimized analytical reads</a:t>
                      </a:r>
                    </a:p>
                  </a:txBody>
                  <a:tcPr marL="101600" marR="101600" marT="50800" marB="50800">
                    <a:solidFill>
                      <a:srgbClr val="FFFFFF"/>
                    </a:solidFill>
                  </a:tcPr>
                </a:tc>
              </a:tr>
              <a:tr h="384048">
                <a:tc>
                  <a:txBody>
                    <a:bodyPr wrap="square"/>
                    <a:lstStyle/>
                    <a:p>
                      <a:pPr>
                        <a:spcAft>
                          <a:spcPts val="100"/>
                        </a:spcAft>
                        <a:defRPr sz="1100">
                          <a:solidFill>
                            <a:srgbClr val="323130"/>
                          </a:solidFill>
                          <a:latin typeface="Segoe UI"/>
                        </a:defRPr>
                      </a:pPr>
                      <a:r>
                        <a:t>Native Delta Write</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Direct columnar write from Velox to Delta, bypassing JVM row serialization</a:t>
                      </a:r>
                    </a:p>
                  </a:txBody>
                  <a:tcPr marL="101600" marR="101600" marT="50800" marB="50800">
                    <a:solidFill>
                      <a:srgbClr val="FAF9F8"/>
                    </a:solidFill>
                  </a:tcPr>
                </a:tc>
              </a:tr>
              <a:tr h="384048">
                <a:tc>
                  <a:txBody>
                    <a:bodyPr wrap="square"/>
                    <a:lstStyle/>
                    <a:p>
                      <a:pPr>
                        <a:spcAft>
                          <a:spcPts val="100"/>
                        </a:spcAft>
                        <a:defRPr sz="1100">
                          <a:solidFill>
                            <a:srgbClr val="323130"/>
                          </a:solidFill>
                          <a:latin typeface="Segoe UI"/>
                        </a:defRPr>
                      </a:pPr>
                      <a:r>
                        <a:t>Deletion Vectors</a:t>
                      </a:r>
                    </a:p>
                  </a:txBody>
                  <a:tcPr marL="101600" marR="101600" marT="50800" marB="50800">
                    <a:solidFill>
                      <a:srgbClr val="FFFFFF"/>
                    </a:solidFill>
                  </a:tcPr>
                </a:tc>
                <a:tc>
                  <a:txBody>
                    <a:bodyPr wrap="square"/>
                    <a:lstStyle/>
                    <a:p>
                      <a:pPr>
                        <a:spcAft>
                          <a:spcPts val="100"/>
                        </a:spcAft>
                        <a:defRPr sz="1100">
                          <a:solidFill>
                            <a:srgbClr val="323130"/>
                          </a:solidFill>
                          <a:latin typeface="Segoe UI"/>
                        </a:defRPr>
                      </a:pPr>
                      <a:r>
                        <a:t>Native row-level deletes without rewrite</a:t>
                      </a:r>
                    </a:p>
                  </a:txBody>
                  <a:tcPr marL="101600" marR="101600" marT="50800" marB="50800">
                    <a:solidFill>
                      <a:srgbClr val="FFFFFF"/>
                    </a:solidFill>
                  </a:tcPr>
                </a:tc>
              </a:tr>
              <a:tr h="384048">
                <a:tc>
                  <a:txBody>
                    <a:bodyPr wrap="square"/>
                    <a:lstStyle/>
                    <a:p>
                      <a:pPr>
                        <a:spcAft>
                          <a:spcPts val="100"/>
                        </a:spcAft>
                        <a:defRPr sz="1100">
                          <a:solidFill>
                            <a:srgbClr val="323130"/>
                          </a:solidFill>
                          <a:latin typeface="Segoe UI"/>
                        </a:defRPr>
                      </a:pPr>
                      <a:r>
                        <a:t>Z-Order &amp; Liquid Clustering</a:t>
                      </a:r>
                    </a:p>
                  </a:txBody>
                  <a:tcPr marL="101600" marR="101600" marT="50800" marB="50800">
                    <a:solidFill>
                      <a:srgbClr val="FAF9F8"/>
                    </a:solidFill>
                  </a:tcPr>
                </a:tc>
                <a:tc>
                  <a:txBody>
                    <a:bodyPr wrap="square"/>
                    <a:lstStyle/>
                    <a:p>
                      <a:pPr>
                        <a:spcAft>
                          <a:spcPts val="100"/>
                        </a:spcAft>
                        <a:defRPr sz="1100">
                          <a:solidFill>
                            <a:srgbClr val="323130"/>
                          </a:solidFill>
                          <a:latin typeface="Segoe UI"/>
                        </a:defRPr>
                      </a:pPr>
                      <a:r>
                        <a:t>NEE-optimized data layouts for predicate pushdown</a:t>
                      </a:r>
                    </a:p>
                  </a:txBody>
                  <a:tcPr marL="101600" marR="101600" marT="50800" marB="50800">
                    <a:solidFill>
                      <a:srgbClr val="FAF9F8"/>
                    </a:solidFill>
                  </a:tcPr>
                </a:tc>
              </a:tr>
            </a:tbl>
          </a:graphicData>
        </a:graphic>
      </p:graphicFrame>
      <p:sp>
        <p:nvSpPr>
          <p:cNvPr id="6" name="TextBox 5"/>
          <p:cNvSpPr txBox="1"/>
          <p:nvPr/>
        </p:nvSpPr>
        <p:spPr>
          <a:xfrm>
            <a:off x="62179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Observability</a:t>
            </a:r>
          </a:p>
        </p:txBody>
      </p:sp>
      <p:sp>
        <p:nvSpPr>
          <p:cNvPr id="7" name="TextBox 6"/>
          <p:cNvSpPr txBox="1"/>
          <p:nvPr/>
        </p:nvSpPr>
        <p:spPr>
          <a:xfrm>
            <a:off x="6217920" y="1508760"/>
            <a:ext cx="5212080" cy="2743200"/>
          </a:xfrm>
          <a:prstGeom prst="rect">
            <a:avLst/>
          </a:prstGeom>
          <a:noFill/>
        </p:spPr>
        <p:txBody>
          <a:bodyPr wrap="square">
            <a:spAutoFit/>
          </a:bodyPr>
          <a:lstStyle/>
          <a:p>
            <a:pPr>
              <a:spcBef>
                <a:spcPts val="200"/>
              </a:spcBef>
              <a:spcAft>
                <a:spcPts val="400"/>
              </a:spcAft>
            </a:pPr>
            <a:r>
              <a:rPr sz="1200" b="1">
                <a:solidFill>
                  <a:srgbClr val="323130"/>
                </a:solidFill>
                <a:latin typeface="Segoe UI"/>
              </a:rPr>
              <a:t>Spark Advisor:</a:t>
            </a:r>
            <a:r>
              <a:rPr sz="1200">
                <a:solidFill>
                  <a:srgbClr val="323130"/>
                </a:solidFill>
                <a:latin typeface="Segoe UI"/>
              </a:rPr>
              <a:t> real-time fallback alerts — shows which operator, why, and what to change</a:t>
            </a:r>
          </a:p>
          <a:p>
            <a:pPr>
              <a:spcBef>
                <a:spcPts val="200"/>
              </a:spcBef>
              <a:spcAft>
                <a:spcPts val="400"/>
              </a:spcAft>
            </a:pPr>
            <a:r>
              <a:rPr sz="1200" b="1">
                <a:solidFill>
                  <a:srgbClr val="323130"/>
                </a:solidFill>
                <a:latin typeface="Segoe UI"/>
              </a:rPr>
              <a:t>Gluten SQL tab:</a:t>
            </a:r>
            <a:r>
              <a:rPr sz="1200">
                <a:solidFill>
                  <a:srgbClr val="323130"/>
                </a:solidFill>
                <a:latin typeface="Segoe UI"/>
              </a:rPr>
              <a:t> native vs. JVM node visibility in Spark UI</a:t>
            </a:r>
          </a:p>
          <a:p>
            <a:pPr>
              <a:spcBef>
                <a:spcPts val="200"/>
              </a:spcBef>
              <a:spcAft>
                <a:spcPts val="400"/>
              </a:spcAft>
            </a:pPr>
            <a:r>
              <a:rPr sz="1200" b="1">
                <a:solidFill>
                  <a:srgbClr val="323130"/>
                </a:solidFill>
                <a:latin typeface="Segoe UI"/>
              </a:rPr>
              <a:t>Run Series:</a:t>
            </a:r>
            <a:r>
              <a:rPr sz="1200">
                <a:solidFill>
                  <a:srgbClr val="323130"/>
                </a:solidFill>
                <a:latin typeface="Segoe UI"/>
              </a:rPr>
              <a:t> before/after NEE performance comparison</a:t>
            </a:r>
          </a:p>
          <a:p>
            <a:pPr>
              <a:spcBef>
                <a:spcPts val="200"/>
              </a:spcBef>
              <a:spcAft>
                <a:spcPts val="400"/>
              </a:spcAft>
            </a:pPr>
            <a:r>
              <a:rPr sz="1200" b="1">
                <a:solidFill>
                  <a:srgbClr val="323130"/>
                </a:solidFill>
                <a:latin typeface="Segoe UI"/>
              </a:rPr>
              <a:t>In explain() output:</a:t>
            </a:r>
            <a:r>
              <a:rPr sz="1200">
                <a:solidFill>
                  <a:srgbClr val="323130"/>
                </a:solidFill>
                <a:latin typeface="Segoe UI"/>
              </a:rPr>
              <a:t> Transformer = native C++, ColumnarToRow = back to JVM</a:t>
            </a:r>
          </a:p>
          <a:p>
            <a:pPr>
              <a:spcBef>
                <a:spcPts val="200"/>
              </a:spcBef>
              <a:spcAft>
                <a:spcPts val="400"/>
              </a:spcAft>
            </a:pPr>
            <a:r>
              <a:rPr sz="1200" b="1">
                <a:solidFill>
                  <a:srgbClr val="323130"/>
                </a:solidFill>
                <a:latin typeface="Segoe UI"/>
              </a:rPr>
              <a:t>Full docs:</a:t>
            </a:r>
            <a:r>
              <a:rPr sz="1200">
                <a:solidFill>
                  <a:srgbClr val="323130"/>
                </a:solidFill>
                <a:latin typeface="Segoe UI"/>
              </a:rPr>
              <a:t> learn.microsoft.com/fabric/.../native-execution-engine-overview</a:t>
            </a:r>
          </a:p>
        </p:txBody>
      </p:sp>
      <p:sp>
        <p:nvSpPr>
          <p:cNvPr id="8" name="TextBox 7"/>
          <p:cNvSpPr txBox="1"/>
          <p:nvPr/>
        </p:nvSpPr>
        <p:spPr>
          <a:xfrm>
            <a:off x="731520" y="4846320"/>
            <a:ext cx="10515600" cy="457200"/>
          </a:xfrm>
          <a:prstGeom prst="rect">
            <a:avLst/>
          </a:prstGeom>
          <a:noFill/>
        </p:spPr>
        <p:txBody>
          <a:bodyPr wrap="square">
            <a:spAutoFit/>
          </a:bodyPr>
          <a:lstStyle/>
          <a:p>
            <a:pPr algn="l">
              <a:spcAft>
                <a:spcPts val="200"/>
              </a:spcAft>
              <a:defRPr sz="900" b="0">
                <a:solidFill>
                  <a:srgbClr val="605E5C"/>
                </a:solidFill>
                <a:latin typeface="Segoe UI"/>
              </a:defRPr>
            </a:pPr>
            <a:r>
              <a:t>Refs: learn.microsoft.com/fabric/data-engineering/spark-advisor-introduction  |  learn.microsoft.com/fabric/data-engineering/delta-optimization-and-v-order</a:t>
            </a:r>
          </a:p>
        </p:txBody>
      </p:sp>
      <p:sp>
        <p:nvSpPr>
          <p:cNvPr id="9" name="TextBox 8"/>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10" name="TextBox 9"/>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06</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Graduation &amp; Roadmap</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From incubation to TLP, reinforced by production adoption and multi-company stewardship</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Gluten's TLP Journey &amp; Lessons</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Timeline</a:t>
            </a:r>
          </a:p>
        </p:txBody>
      </p:sp>
      <p:sp>
        <p:nvSpPr>
          <p:cNvPr id="5" name="Oval 4"/>
          <p:cNvSpPr/>
          <p:nvPr/>
        </p:nvSpPr>
        <p:spPr>
          <a:xfrm>
            <a:off x="914400" y="1600200"/>
            <a:ext cx="137160" cy="13716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69264" y="1737360"/>
            <a:ext cx="27432" cy="457200"/>
          </a:xfrm>
          <a:prstGeom prst="rect">
            <a:avLst/>
          </a:prstGeom>
          <a:solidFill>
            <a:srgbClr val="EDE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536192"/>
            <a:ext cx="1371600" cy="274320"/>
          </a:xfrm>
          <a:prstGeom prst="rect">
            <a:avLst/>
          </a:prstGeom>
          <a:noFill/>
        </p:spPr>
        <p:txBody>
          <a:bodyPr wrap="square">
            <a:spAutoFit/>
          </a:bodyPr>
          <a:lstStyle/>
          <a:p>
            <a:pPr algn="l">
              <a:spcAft>
                <a:spcPts val="200"/>
              </a:spcAft>
              <a:defRPr sz="1100" b="1">
                <a:solidFill>
                  <a:srgbClr val="0078D4"/>
                </a:solidFill>
                <a:latin typeface="Segoe UI"/>
              </a:defRPr>
            </a:pPr>
            <a:r>
              <a:t>2022 Q1</a:t>
            </a:r>
          </a:p>
        </p:txBody>
      </p:sp>
      <p:sp>
        <p:nvSpPr>
          <p:cNvPr id="8" name="TextBox 7"/>
          <p:cNvSpPr txBox="1"/>
          <p:nvPr/>
        </p:nvSpPr>
        <p:spPr>
          <a:xfrm>
            <a:off x="2560320" y="1536192"/>
            <a:ext cx="2926080" cy="457200"/>
          </a:xfrm>
          <a:prstGeom prst="rect">
            <a:avLst/>
          </a:prstGeom>
          <a:noFill/>
        </p:spPr>
        <p:txBody>
          <a:bodyPr wrap="square">
            <a:spAutoFit/>
          </a:bodyPr>
          <a:lstStyle/>
          <a:p>
            <a:pPr algn="l">
              <a:spcAft>
                <a:spcPts val="200"/>
              </a:spcAft>
              <a:defRPr sz="1100" b="0">
                <a:solidFill>
                  <a:srgbClr val="323130"/>
                </a:solidFill>
                <a:latin typeface="Segoe UI"/>
              </a:defRPr>
            </a:pPr>
            <a:r>
              <a:t>Intel &amp; Kyligence create Gluten</a:t>
            </a:r>
          </a:p>
        </p:txBody>
      </p:sp>
      <p:sp>
        <p:nvSpPr>
          <p:cNvPr id="9" name="Oval 8"/>
          <p:cNvSpPr/>
          <p:nvPr/>
        </p:nvSpPr>
        <p:spPr>
          <a:xfrm>
            <a:off x="914400" y="2194560"/>
            <a:ext cx="137160" cy="13716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9264" y="2331720"/>
            <a:ext cx="27432" cy="457200"/>
          </a:xfrm>
          <a:prstGeom prst="rect">
            <a:avLst/>
          </a:prstGeom>
          <a:solidFill>
            <a:srgbClr val="EDE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30552"/>
            <a:ext cx="1371600" cy="274320"/>
          </a:xfrm>
          <a:prstGeom prst="rect">
            <a:avLst/>
          </a:prstGeom>
          <a:noFill/>
        </p:spPr>
        <p:txBody>
          <a:bodyPr wrap="square">
            <a:spAutoFit/>
          </a:bodyPr>
          <a:lstStyle/>
          <a:p>
            <a:pPr algn="l">
              <a:spcAft>
                <a:spcPts val="200"/>
              </a:spcAft>
              <a:defRPr sz="1100" b="1">
                <a:solidFill>
                  <a:srgbClr val="0078D4"/>
                </a:solidFill>
                <a:latin typeface="Segoe UI"/>
              </a:defRPr>
            </a:pPr>
            <a:r>
              <a:t>Dec 2023</a:t>
            </a:r>
          </a:p>
        </p:txBody>
      </p:sp>
      <p:sp>
        <p:nvSpPr>
          <p:cNvPr id="12" name="TextBox 11"/>
          <p:cNvSpPr txBox="1"/>
          <p:nvPr/>
        </p:nvSpPr>
        <p:spPr>
          <a:xfrm>
            <a:off x="2560320" y="2130552"/>
            <a:ext cx="2926080" cy="457200"/>
          </a:xfrm>
          <a:prstGeom prst="rect">
            <a:avLst/>
          </a:prstGeom>
          <a:noFill/>
        </p:spPr>
        <p:txBody>
          <a:bodyPr wrap="square">
            <a:spAutoFit/>
          </a:bodyPr>
          <a:lstStyle/>
          <a:p>
            <a:pPr algn="l">
              <a:spcAft>
                <a:spcPts val="200"/>
              </a:spcAft>
              <a:defRPr sz="1100" b="0">
                <a:solidFill>
                  <a:srgbClr val="323130"/>
                </a:solidFill>
                <a:latin typeface="Segoe UI"/>
              </a:defRPr>
            </a:pPr>
            <a:r>
              <a:t>Entered Apache Incubator</a:t>
            </a:r>
          </a:p>
        </p:txBody>
      </p:sp>
      <p:sp>
        <p:nvSpPr>
          <p:cNvPr id="13" name="Oval 12"/>
          <p:cNvSpPr/>
          <p:nvPr/>
        </p:nvSpPr>
        <p:spPr>
          <a:xfrm>
            <a:off x="914400" y="2788920"/>
            <a:ext cx="137160" cy="13716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69264" y="2926080"/>
            <a:ext cx="27432" cy="457200"/>
          </a:xfrm>
          <a:prstGeom prst="rect">
            <a:avLst/>
          </a:prstGeom>
          <a:solidFill>
            <a:srgbClr val="EDE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724912"/>
            <a:ext cx="1371600" cy="274320"/>
          </a:xfrm>
          <a:prstGeom prst="rect">
            <a:avLst/>
          </a:prstGeom>
          <a:noFill/>
        </p:spPr>
        <p:txBody>
          <a:bodyPr wrap="square">
            <a:spAutoFit/>
          </a:bodyPr>
          <a:lstStyle/>
          <a:p>
            <a:pPr algn="l">
              <a:spcAft>
                <a:spcPts val="200"/>
              </a:spcAft>
              <a:defRPr sz="1100" b="1">
                <a:solidFill>
                  <a:srgbClr val="0078D4"/>
                </a:solidFill>
                <a:latin typeface="Segoe UI"/>
              </a:defRPr>
            </a:pPr>
            <a:r>
              <a:t>2024–25</a:t>
            </a:r>
          </a:p>
        </p:txBody>
      </p:sp>
      <p:sp>
        <p:nvSpPr>
          <p:cNvPr id="16" name="TextBox 15"/>
          <p:cNvSpPr txBox="1"/>
          <p:nvPr/>
        </p:nvSpPr>
        <p:spPr>
          <a:xfrm>
            <a:off x="2560320" y="2724912"/>
            <a:ext cx="2926080" cy="457200"/>
          </a:xfrm>
          <a:prstGeom prst="rect">
            <a:avLst/>
          </a:prstGeom>
          <a:noFill/>
        </p:spPr>
        <p:txBody>
          <a:bodyPr wrap="square">
            <a:spAutoFit/>
          </a:bodyPr>
          <a:lstStyle/>
          <a:p>
            <a:pPr algn="l">
              <a:spcAft>
                <a:spcPts val="200"/>
              </a:spcAft>
              <a:defRPr sz="1100" b="0">
                <a:solidFill>
                  <a:srgbClr val="323130"/>
                </a:solidFill>
                <a:latin typeface="Segoe UI"/>
              </a:defRPr>
            </a:pPr>
            <a:r>
              <a:t>Microsoft adoption — Fabric NEE in production, upstream contributions begin</a:t>
            </a:r>
          </a:p>
        </p:txBody>
      </p:sp>
      <p:sp>
        <p:nvSpPr>
          <p:cNvPr id="17" name="Oval 16"/>
          <p:cNvSpPr/>
          <p:nvPr/>
        </p:nvSpPr>
        <p:spPr>
          <a:xfrm>
            <a:off x="914400" y="3383280"/>
            <a:ext cx="137160" cy="13716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9264" y="3520440"/>
            <a:ext cx="27432" cy="457200"/>
          </a:xfrm>
          <a:prstGeom prst="rect">
            <a:avLst/>
          </a:prstGeom>
          <a:solidFill>
            <a:srgbClr val="EDE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319272"/>
            <a:ext cx="1371600" cy="274320"/>
          </a:xfrm>
          <a:prstGeom prst="rect">
            <a:avLst/>
          </a:prstGeom>
          <a:noFill/>
        </p:spPr>
        <p:txBody>
          <a:bodyPr wrap="square">
            <a:spAutoFit/>
          </a:bodyPr>
          <a:lstStyle/>
          <a:p>
            <a:pPr algn="l">
              <a:spcAft>
                <a:spcPts val="200"/>
              </a:spcAft>
              <a:defRPr sz="1100" b="1">
                <a:solidFill>
                  <a:srgbClr val="0078D4"/>
                </a:solidFill>
                <a:latin typeface="Segoe UI"/>
              </a:defRPr>
            </a:pPr>
            <a:r>
              <a:t>Jan 2025</a:t>
            </a:r>
          </a:p>
        </p:txBody>
      </p:sp>
      <p:sp>
        <p:nvSpPr>
          <p:cNvPr id="20" name="TextBox 19"/>
          <p:cNvSpPr txBox="1"/>
          <p:nvPr/>
        </p:nvSpPr>
        <p:spPr>
          <a:xfrm>
            <a:off x="2560320" y="3319272"/>
            <a:ext cx="2926080" cy="457200"/>
          </a:xfrm>
          <a:prstGeom prst="rect">
            <a:avLst/>
          </a:prstGeom>
          <a:noFill/>
        </p:spPr>
        <p:txBody>
          <a:bodyPr wrap="square">
            <a:spAutoFit/>
          </a:bodyPr>
          <a:lstStyle/>
          <a:p>
            <a:pPr algn="l">
              <a:spcAft>
                <a:spcPts val="200"/>
              </a:spcAft>
              <a:defRPr sz="1100" b="0">
                <a:solidFill>
                  <a:srgbClr val="323130"/>
                </a:solidFill>
                <a:latin typeface="Segoe UI"/>
              </a:defRPr>
            </a:pPr>
            <a:r>
              <a:t>v1.3.0 — OOM ↓ 70%</a:t>
            </a:r>
          </a:p>
        </p:txBody>
      </p:sp>
      <p:sp>
        <p:nvSpPr>
          <p:cNvPr id="21" name="Oval 20"/>
          <p:cNvSpPr/>
          <p:nvPr/>
        </p:nvSpPr>
        <p:spPr>
          <a:xfrm>
            <a:off x="914400" y="3977640"/>
            <a:ext cx="137160" cy="13716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3913632"/>
            <a:ext cx="1371600" cy="274320"/>
          </a:xfrm>
          <a:prstGeom prst="rect">
            <a:avLst/>
          </a:prstGeom>
          <a:noFill/>
        </p:spPr>
        <p:txBody>
          <a:bodyPr wrap="square">
            <a:spAutoFit/>
          </a:bodyPr>
          <a:lstStyle/>
          <a:p>
            <a:pPr algn="l">
              <a:spcAft>
                <a:spcPts val="200"/>
              </a:spcAft>
              <a:defRPr sz="1100" b="1">
                <a:solidFill>
                  <a:srgbClr val="0078D4"/>
                </a:solidFill>
                <a:latin typeface="Segoe UI"/>
              </a:defRPr>
            </a:pPr>
            <a:r>
              <a:t>Feb 18, 2026</a:t>
            </a:r>
          </a:p>
        </p:txBody>
      </p:sp>
      <p:sp>
        <p:nvSpPr>
          <p:cNvPr id="23" name="TextBox 22"/>
          <p:cNvSpPr txBox="1"/>
          <p:nvPr/>
        </p:nvSpPr>
        <p:spPr>
          <a:xfrm>
            <a:off x="2560320" y="3913632"/>
            <a:ext cx="2926080" cy="457200"/>
          </a:xfrm>
          <a:prstGeom prst="rect">
            <a:avLst/>
          </a:prstGeom>
          <a:noFill/>
        </p:spPr>
        <p:txBody>
          <a:bodyPr wrap="square">
            <a:spAutoFit/>
          </a:bodyPr>
          <a:lstStyle/>
          <a:p>
            <a:pPr algn="l">
              <a:spcAft>
                <a:spcPts val="200"/>
              </a:spcAft>
              <a:defRPr sz="1100" b="0">
                <a:solidFill>
                  <a:srgbClr val="323130"/>
                </a:solidFill>
                <a:latin typeface="Segoe UI"/>
              </a:defRPr>
            </a:pPr>
            <a:r>
              <a:t>Apache TLP — 1,500+ stars, ~194 contributors</a:t>
            </a:r>
          </a:p>
        </p:txBody>
      </p:sp>
      <p:sp>
        <p:nvSpPr>
          <p:cNvPr id="24" name="TextBox 23"/>
          <p:cNvSpPr txBox="1"/>
          <p:nvPr/>
        </p:nvSpPr>
        <p:spPr>
          <a:xfrm>
            <a:off x="62179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Key Lessons</a:t>
            </a:r>
          </a:p>
        </p:txBody>
      </p:sp>
      <p:sp>
        <p:nvSpPr>
          <p:cNvPr id="25" name="Rounded Rectangle 24"/>
          <p:cNvSpPr/>
          <p:nvPr/>
        </p:nvSpPr>
        <p:spPr>
          <a:xfrm>
            <a:off x="6217920" y="1554480"/>
            <a:ext cx="5029200" cy="91440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1554480"/>
            <a:ext cx="73152" cy="914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645920"/>
            <a:ext cx="4754880" cy="320040"/>
          </a:xfrm>
          <a:prstGeom prst="rect">
            <a:avLst/>
          </a:prstGeom>
          <a:noFill/>
        </p:spPr>
        <p:txBody>
          <a:bodyPr wrap="square">
            <a:spAutoFit/>
          </a:bodyPr>
          <a:lstStyle/>
          <a:p>
            <a:pPr algn="l">
              <a:spcAft>
                <a:spcPts val="200"/>
              </a:spcAft>
              <a:defRPr sz="1300" b="1">
                <a:solidFill>
                  <a:srgbClr val="0078D4"/>
                </a:solidFill>
                <a:latin typeface="Segoe UI"/>
              </a:defRPr>
            </a:pPr>
            <a:r>
              <a:t>Governance Matters as Much as Code</a:t>
            </a:r>
          </a:p>
        </p:txBody>
      </p:sp>
      <p:sp>
        <p:nvSpPr>
          <p:cNvPr id="28" name="TextBox 27"/>
          <p:cNvSpPr txBox="1"/>
          <p:nvPr/>
        </p:nvSpPr>
        <p:spPr>
          <a:xfrm>
            <a:off x="6400800" y="1938528"/>
            <a:ext cx="4754880" cy="457200"/>
          </a:xfrm>
          <a:prstGeom prst="rect">
            <a:avLst/>
          </a:prstGeom>
          <a:noFill/>
        </p:spPr>
        <p:txBody>
          <a:bodyPr wrap="square">
            <a:spAutoFit/>
          </a:bodyPr>
          <a:lstStyle/>
          <a:p>
            <a:pPr algn="l">
              <a:spcAft>
                <a:spcPts val="200"/>
              </a:spcAft>
              <a:defRPr sz="1100" b="0">
                <a:solidFill>
                  <a:srgbClr val="605E5C"/>
                </a:solidFill>
                <a:latin typeface="Segoe UI"/>
              </a:defRPr>
            </a:pPr>
            <a:r>
              <a:t>ASF graduation required a PMC with Intel, Kyligence, Microsoft, and independents — not a single company's project.</a:t>
            </a:r>
          </a:p>
        </p:txBody>
      </p:sp>
      <p:sp>
        <p:nvSpPr>
          <p:cNvPr id="29" name="Rounded Rectangle 28"/>
          <p:cNvSpPr/>
          <p:nvPr/>
        </p:nvSpPr>
        <p:spPr>
          <a:xfrm>
            <a:off x="6217920" y="2651760"/>
            <a:ext cx="5029200" cy="91440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2651760"/>
            <a:ext cx="73152" cy="9144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743200"/>
            <a:ext cx="4754880" cy="320040"/>
          </a:xfrm>
          <a:prstGeom prst="rect">
            <a:avLst/>
          </a:prstGeom>
          <a:noFill/>
        </p:spPr>
        <p:txBody>
          <a:bodyPr wrap="square">
            <a:spAutoFit/>
          </a:bodyPr>
          <a:lstStyle/>
          <a:p>
            <a:pPr algn="l">
              <a:spcAft>
                <a:spcPts val="200"/>
              </a:spcAft>
              <a:defRPr sz="1300" b="1">
                <a:solidFill>
                  <a:srgbClr val="FF8C00"/>
                </a:solidFill>
                <a:latin typeface="Segoe UI"/>
              </a:defRPr>
            </a:pPr>
            <a:r>
              <a:t>Memory: The Hardest Problem</a:t>
            </a:r>
          </a:p>
        </p:txBody>
      </p:sp>
      <p:sp>
        <p:nvSpPr>
          <p:cNvPr id="32" name="TextBox 31"/>
          <p:cNvSpPr txBox="1"/>
          <p:nvPr/>
        </p:nvSpPr>
        <p:spPr>
          <a:xfrm>
            <a:off x="6400800" y="3035808"/>
            <a:ext cx="4754880" cy="457200"/>
          </a:xfrm>
          <a:prstGeom prst="rect">
            <a:avLst/>
          </a:prstGeom>
          <a:noFill/>
        </p:spPr>
        <p:txBody>
          <a:bodyPr wrap="square">
            <a:spAutoFit/>
          </a:bodyPr>
          <a:lstStyle/>
          <a:p>
            <a:pPr algn="l">
              <a:spcAft>
                <a:spcPts val="200"/>
              </a:spcAft>
              <a:defRPr sz="1100" b="0">
                <a:solidFill>
                  <a:srgbClr val="605E5C"/>
                </a:solidFill>
                <a:latin typeface="Segoe UI"/>
              </a:defRPr>
            </a:pPr>
            <a:r>
              <a:t>JVM vs. native off-heap — 9-month collaboration to build cooperative memory arbitration. OOM dropped 70%.</a:t>
            </a:r>
          </a:p>
        </p:txBody>
      </p:sp>
      <p:sp>
        <p:nvSpPr>
          <p:cNvPr id="33" name="Rounded Rectangle 32"/>
          <p:cNvSpPr/>
          <p:nvPr/>
        </p:nvSpPr>
        <p:spPr>
          <a:xfrm>
            <a:off x="6217920" y="3749039"/>
            <a:ext cx="5029200" cy="109728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3749039"/>
            <a:ext cx="73152" cy="10972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3840479"/>
            <a:ext cx="4754880" cy="320040"/>
          </a:xfrm>
          <a:prstGeom prst="rect">
            <a:avLst/>
          </a:prstGeom>
          <a:noFill/>
        </p:spPr>
        <p:txBody>
          <a:bodyPr wrap="square">
            <a:spAutoFit/>
          </a:bodyPr>
          <a:lstStyle/>
          <a:p>
            <a:pPr algn="l">
              <a:spcAft>
                <a:spcPts val="200"/>
              </a:spcAft>
              <a:defRPr sz="1300" b="1">
                <a:solidFill>
                  <a:srgbClr val="107C10"/>
                </a:solidFill>
                <a:latin typeface="Segoe UI"/>
              </a:defRPr>
            </a:pPr>
            <a:r>
              <a:t>Production → Upstream → Graduation</a:t>
            </a:r>
          </a:p>
        </p:txBody>
      </p:sp>
      <p:sp>
        <p:nvSpPr>
          <p:cNvPr id="36" name="TextBox 35"/>
          <p:cNvSpPr txBox="1"/>
          <p:nvPr/>
        </p:nvSpPr>
        <p:spPr>
          <a:xfrm>
            <a:off x="6400800" y="4133087"/>
            <a:ext cx="4754880" cy="640080"/>
          </a:xfrm>
          <a:prstGeom prst="rect">
            <a:avLst/>
          </a:prstGeom>
          <a:noFill/>
        </p:spPr>
        <p:txBody>
          <a:bodyPr wrap="square">
            <a:spAutoFit/>
          </a:bodyPr>
          <a:lstStyle/>
          <a:p>
            <a:pPr algn="l">
              <a:spcAft>
                <a:spcPts val="200"/>
              </a:spcAft>
              <a:defRPr sz="1100" b="0">
                <a:solidFill>
                  <a:srgbClr val="605E5C"/>
                </a:solidFill>
                <a:latin typeface="Segoe UI"/>
              </a:defRPr>
            </a:pPr>
            <a:r>
              <a:t>How production adoption (at Microsoft and elsewhere) validated Gluten at scale and accelerated TLP readiness — not a downstream fork strategy.</a:t>
            </a:r>
          </a:p>
        </p:txBody>
      </p:sp>
      <p:sp>
        <p:nvSpPr>
          <p:cNvPr id="37" name="TextBox 36"/>
          <p:cNvSpPr txBox="1"/>
          <p:nvPr/>
        </p:nvSpPr>
        <p:spPr>
          <a:xfrm>
            <a:off x="731520" y="5029200"/>
            <a:ext cx="5029200" cy="228600"/>
          </a:xfrm>
          <a:prstGeom prst="rect">
            <a:avLst/>
          </a:prstGeom>
          <a:noFill/>
        </p:spPr>
        <p:txBody>
          <a:bodyPr wrap="square">
            <a:spAutoFit/>
          </a:bodyPr>
          <a:lstStyle/>
          <a:p>
            <a:pPr algn="l">
              <a:spcAft>
                <a:spcPts val="200"/>
              </a:spcAft>
              <a:defRPr sz="900" b="0">
                <a:solidFill>
                  <a:srgbClr val="605E5C"/>
                </a:solidFill>
                <a:latin typeface="Segoe UI"/>
              </a:defRPr>
            </a:pPr>
            <a:r>
              <a:t>Ref: incubator.apache.org/projects/gluten.html</a:t>
            </a:r>
          </a:p>
        </p:txBody>
      </p:sp>
      <p:sp>
        <p:nvSpPr>
          <p:cNvPr id="38" name="TextBox 37"/>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39" name="TextBox 38"/>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2026 Roadmap &amp; Microsoft Focus</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Gluten Community Roadmap</a:t>
            </a:r>
          </a:p>
        </p:txBody>
      </p:sp>
      <p:graphicFrame>
        <p:nvGraphicFramePr>
          <p:cNvPr id="5" name="Table 4"/>
          <p:cNvGraphicFramePr>
            <a:graphicFrameLocks noGrp="1"/>
          </p:cNvGraphicFramePr>
          <p:nvPr/>
        </p:nvGraphicFramePr>
        <p:xfrm>
          <a:off x="731520" y="1554480"/>
          <a:ext cx="5029200" cy="1920240"/>
        </p:xfrm>
        <a:graphic>
          <a:graphicData uri="http://schemas.openxmlformats.org/drawingml/2006/table">
            <a:tbl>
              <a:tblPr firstRow="1" bandRow="1">
                <a:tableStyleId>{5C22544A-7EE6-4342-B048-85BDC9FD1C3A}</a:tableStyleId>
              </a:tblPr>
              <a:tblGrid>
                <a:gridCol w="548640"/>
                <a:gridCol w="914400"/>
                <a:gridCol w="3566160"/>
              </a:tblGrid>
              <a:tr h="384048">
                <a:tc>
                  <a:txBody>
                    <a:bodyPr wrap="square"/>
                    <a:lstStyle/>
                    <a:p>
                      <a:pPr>
                        <a:spcAft>
                          <a:spcPts val="100"/>
                        </a:spcAft>
                        <a:defRPr sz="1200" b="1">
                          <a:solidFill>
                            <a:srgbClr val="FFFFFF"/>
                          </a:solidFill>
                          <a:latin typeface="Segoe UI"/>
                        </a:defRPr>
                      </a:pPr>
                      <a:r>
                        <a:t>Q</a:t>
                      </a:r>
                    </a:p>
                  </a:txBody>
                  <a:tcPr marL="101600" marR="101600" marT="50800" marB="50800">
                    <a:solidFill>
                      <a:srgbClr val="0078D4"/>
                    </a:solidFill>
                  </a:tcPr>
                </a:tc>
                <a:tc>
                  <a:txBody>
                    <a:bodyPr wrap="square"/>
                    <a:lstStyle/>
                    <a:p>
                      <a:pPr>
                        <a:spcAft>
                          <a:spcPts val="100"/>
                        </a:spcAft>
                        <a:defRPr sz="1200" b="1">
                          <a:solidFill>
                            <a:srgbClr val="FFFFFF"/>
                          </a:solidFill>
                          <a:latin typeface="Segoe UI"/>
                        </a:defRPr>
                      </a:pPr>
                      <a:r>
                        <a:t>Version</a:t>
                      </a:r>
                    </a:p>
                  </a:txBody>
                  <a:tcPr marL="101600" marR="101600" marT="50800" marB="50800">
                    <a:solidFill>
                      <a:srgbClr val="0078D4"/>
                    </a:solidFill>
                  </a:tcPr>
                </a:tc>
                <a:tc>
                  <a:txBody>
                    <a:bodyPr wrap="square"/>
                    <a:lstStyle/>
                    <a:p>
                      <a:pPr>
                        <a:spcAft>
                          <a:spcPts val="100"/>
                        </a:spcAft>
                        <a:defRPr sz="1200" b="1">
                          <a:solidFill>
                            <a:srgbClr val="FFFFFF"/>
                          </a:solidFill>
                          <a:latin typeface="Segoe UI"/>
                        </a:defRPr>
                      </a:pPr>
                      <a:r>
                        <a:t>Highlights</a:t>
                      </a:r>
                    </a:p>
                  </a:txBody>
                  <a:tcPr marL="101600" marR="101600" marT="50800" marB="50800">
                    <a:solidFill>
                      <a:srgbClr val="0078D4"/>
                    </a:solidFill>
                  </a:tcPr>
                </a:tc>
              </a:tr>
              <a:tr h="384048">
                <a:tc>
                  <a:txBody>
                    <a:bodyPr wrap="square"/>
                    <a:lstStyle/>
                    <a:p>
                      <a:pPr>
                        <a:spcAft>
                          <a:spcPts val="100"/>
                        </a:spcAft>
                        <a:defRPr sz="1200">
                          <a:solidFill>
                            <a:srgbClr val="323130"/>
                          </a:solidFill>
                          <a:latin typeface="Segoe UI"/>
                        </a:defRPr>
                      </a:pPr>
                      <a:r>
                        <a:t>Q1</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1.6.0</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Post-grad cleanup, Spark 4.0 beta</a:t>
                      </a:r>
                    </a:p>
                  </a:txBody>
                  <a:tcPr marL="101600" marR="101600" marT="50800" marB="50800">
                    <a:solidFill>
                      <a:srgbClr val="FFFFFF"/>
                    </a:solidFill>
                  </a:tcPr>
                </a:tc>
              </a:tr>
              <a:tr h="384048">
                <a:tc>
                  <a:txBody>
                    <a:bodyPr wrap="square"/>
                    <a:lstStyle/>
                    <a:p>
                      <a:pPr>
                        <a:spcAft>
                          <a:spcPts val="100"/>
                        </a:spcAft>
                        <a:defRPr sz="1200">
                          <a:solidFill>
                            <a:srgbClr val="323130"/>
                          </a:solidFill>
                          <a:latin typeface="Segoe UI"/>
                        </a:defRPr>
                      </a:pPr>
                      <a:r>
                        <a:t>Q2</a:t>
                      </a:r>
                    </a:p>
                  </a:txBody>
                  <a:tcPr marL="101600" marR="101600" marT="50800" marB="50800">
                    <a:solidFill>
                      <a:srgbClr val="FAF9F8"/>
                    </a:solidFill>
                  </a:tcPr>
                </a:tc>
                <a:tc>
                  <a:txBody>
                    <a:bodyPr wrap="square"/>
                    <a:lstStyle/>
                    <a:p>
                      <a:pPr>
                        <a:spcAft>
                          <a:spcPts val="100"/>
                        </a:spcAft>
                        <a:defRPr sz="1200">
                          <a:solidFill>
                            <a:srgbClr val="323130"/>
                          </a:solidFill>
                          <a:latin typeface="Segoe UI"/>
                        </a:defRPr>
                      </a:pPr>
                      <a:r>
                        <a:t>1.7.0</a:t>
                      </a:r>
                    </a:p>
                  </a:txBody>
                  <a:tcPr marL="101600" marR="101600" marT="50800" marB="50800">
                    <a:solidFill>
                      <a:srgbClr val="FAF9F8"/>
                    </a:solidFill>
                  </a:tcPr>
                </a:tc>
                <a:tc>
                  <a:txBody>
                    <a:bodyPr wrap="square"/>
                    <a:lstStyle/>
                    <a:p>
                      <a:pPr>
                        <a:spcAft>
                          <a:spcPts val="100"/>
                        </a:spcAft>
                        <a:defRPr sz="1200">
                          <a:solidFill>
                            <a:srgbClr val="323130"/>
                          </a:solidFill>
                          <a:latin typeface="Segoe UI"/>
                        </a:defRPr>
                      </a:pPr>
                      <a:r>
                        <a:t>Multi-core, PySpark UDF</a:t>
                      </a:r>
                    </a:p>
                  </a:txBody>
                  <a:tcPr marL="101600" marR="101600" marT="50800" marB="50800">
                    <a:solidFill>
                      <a:srgbClr val="FAF9F8"/>
                    </a:solidFill>
                  </a:tcPr>
                </a:tc>
              </a:tr>
              <a:tr h="384048">
                <a:tc>
                  <a:txBody>
                    <a:bodyPr wrap="square"/>
                    <a:lstStyle/>
                    <a:p>
                      <a:pPr>
                        <a:spcAft>
                          <a:spcPts val="100"/>
                        </a:spcAft>
                        <a:defRPr sz="1200">
                          <a:solidFill>
                            <a:srgbClr val="323130"/>
                          </a:solidFill>
                          <a:latin typeface="Segoe UI"/>
                        </a:defRPr>
                      </a:pPr>
                      <a:r>
                        <a:t>Q3</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1.8.0</a:t>
                      </a:r>
                    </a:p>
                  </a:txBody>
                  <a:tcPr marL="101600" marR="101600" marT="50800" marB="50800">
                    <a:solidFill>
                      <a:srgbClr val="FFFFFF"/>
                    </a:solidFill>
                  </a:tcPr>
                </a:tc>
                <a:tc>
                  <a:txBody>
                    <a:bodyPr wrap="square"/>
                    <a:lstStyle/>
                    <a:p>
                      <a:pPr>
                        <a:spcAft>
                          <a:spcPts val="100"/>
                        </a:spcAft>
                        <a:defRPr sz="1200">
                          <a:solidFill>
                            <a:srgbClr val="323130"/>
                          </a:solidFill>
                          <a:latin typeface="Segoe UI"/>
                        </a:defRPr>
                      </a:pPr>
                      <a:r>
                        <a:t>Flink PoC, GPU exploration</a:t>
                      </a:r>
                    </a:p>
                  </a:txBody>
                  <a:tcPr marL="101600" marR="101600" marT="50800" marB="50800">
                    <a:solidFill>
                      <a:srgbClr val="FFFFFF"/>
                    </a:solidFill>
                  </a:tcPr>
                </a:tc>
              </a:tr>
              <a:tr h="384048">
                <a:tc>
                  <a:txBody>
                    <a:bodyPr wrap="square"/>
                    <a:lstStyle/>
                    <a:p>
                      <a:pPr>
                        <a:spcAft>
                          <a:spcPts val="100"/>
                        </a:spcAft>
                        <a:defRPr sz="1200">
                          <a:solidFill>
                            <a:srgbClr val="323130"/>
                          </a:solidFill>
                          <a:latin typeface="Segoe UI"/>
                        </a:defRPr>
                      </a:pPr>
                      <a:r>
                        <a:t>Q4</a:t>
                      </a:r>
                    </a:p>
                  </a:txBody>
                  <a:tcPr marL="101600" marR="101600" marT="50800" marB="50800">
                    <a:solidFill>
                      <a:srgbClr val="FAF9F8"/>
                    </a:solidFill>
                  </a:tcPr>
                </a:tc>
                <a:tc>
                  <a:txBody>
                    <a:bodyPr wrap="square"/>
                    <a:lstStyle/>
                    <a:p>
                      <a:pPr>
                        <a:spcAft>
                          <a:spcPts val="100"/>
                        </a:spcAft>
                        <a:defRPr sz="1200">
                          <a:solidFill>
                            <a:srgbClr val="323130"/>
                          </a:solidFill>
                          <a:latin typeface="Segoe UI"/>
                        </a:defRPr>
                      </a:pPr>
                      <a:r>
                        <a:t>2.0.0</a:t>
                      </a:r>
                    </a:p>
                  </a:txBody>
                  <a:tcPr marL="101600" marR="101600" marT="50800" marB="50800">
                    <a:solidFill>
                      <a:srgbClr val="FAF9F8"/>
                    </a:solidFill>
                  </a:tcPr>
                </a:tc>
                <a:tc>
                  <a:txBody>
                    <a:bodyPr wrap="square"/>
                    <a:lstStyle/>
                    <a:p>
                      <a:pPr>
                        <a:spcAft>
                          <a:spcPts val="100"/>
                        </a:spcAft>
                        <a:defRPr sz="1200">
                          <a:solidFill>
                            <a:srgbClr val="323130"/>
                          </a:solidFill>
                          <a:latin typeface="Segoe UI"/>
                        </a:defRPr>
                      </a:pPr>
                      <a:r>
                        <a:t>Spark 4.0 GA, new backends</a:t>
                      </a:r>
                    </a:p>
                  </a:txBody>
                  <a:tcPr marL="101600" marR="101600" marT="50800" marB="50800">
                    <a:solidFill>
                      <a:srgbClr val="FAF9F8"/>
                    </a:solidFill>
                  </a:tcPr>
                </a:tc>
              </a:tr>
            </a:tbl>
          </a:graphicData>
        </a:graphic>
      </p:graphicFrame>
      <p:sp>
        <p:nvSpPr>
          <p:cNvPr id="6" name="TextBox 5"/>
          <p:cNvSpPr txBox="1"/>
          <p:nvPr/>
        </p:nvSpPr>
        <p:spPr>
          <a:xfrm>
            <a:off x="731520" y="3657600"/>
            <a:ext cx="5029200" cy="228600"/>
          </a:xfrm>
          <a:prstGeom prst="rect">
            <a:avLst/>
          </a:prstGeom>
          <a:noFill/>
        </p:spPr>
        <p:txBody>
          <a:bodyPr wrap="square">
            <a:spAutoFit/>
          </a:bodyPr>
          <a:lstStyle/>
          <a:p>
            <a:pPr algn="l">
              <a:spcAft>
                <a:spcPts val="200"/>
              </a:spcAft>
              <a:defRPr sz="900" b="0">
                <a:solidFill>
                  <a:srgbClr val="605E5C"/>
                </a:solidFill>
                <a:latin typeface="Segoe UI"/>
              </a:defRPr>
            </a:pPr>
            <a:r>
              <a:t>Ref: github.com/apache/gluten/issues/11827</a:t>
            </a:r>
          </a:p>
        </p:txBody>
      </p:sp>
      <p:sp>
        <p:nvSpPr>
          <p:cNvPr id="7" name="TextBox 6"/>
          <p:cNvSpPr txBox="1"/>
          <p:nvPr/>
        </p:nvSpPr>
        <p:spPr>
          <a:xfrm>
            <a:off x="6217920" y="1097280"/>
            <a:ext cx="5029200" cy="320040"/>
          </a:xfrm>
          <a:prstGeom prst="rect">
            <a:avLst/>
          </a:prstGeom>
          <a:noFill/>
        </p:spPr>
        <p:txBody>
          <a:bodyPr wrap="square">
            <a:spAutoFit/>
          </a:bodyPr>
          <a:lstStyle/>
          <a:p>
            <a:pPr algn="l">
              <a:spcAft>
                <a:spcPts val="200"/>
              </a:spcAft>
              <a:defRPr sz="1800" b="1">
                <a:solidFill>
                  <a:srgbClr val="0078D4"/>
                </a:solidFill>
                <a:latin typeface="Segoe UI"/>
              </a:defRPr>
            </a:pPr>
            <a:r>
              <a:t>Microsoft Focus Areas</a:t>
            </a:r>
          </a:p>
        </p:txBody>
      </p:sp>
      <p:sp>
        <p:nvSpPr>
          <p:cNvPr id="8" name="Rounded Rectangle 7"/>
          <p:cNvSpPr/>
          <p:nvPr/>
        </p:nvSpPr>
        <p:spPr>
          <a:xfrm>
            <a:off x="6217920" y="1554480"/>
            <a:ext cx="5029200" cy="8229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554480"/>
            <a:ext cx="73152" cy="822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645920"/>
            <a:ext cx="4754880" cy="320040"/>
          </a:xfrm>
          <a:prstGeom prst="rect">
            <a:avLst/>
          </a:prstGeom>
          <a:noFill/>
        </p:spPr>
        <p:txBody>
          <a:bodyPr wrap="square">
            <a:spAutoFit/>
          </a:bodyPr>
          <a:lstStyle/>
          <a:p>
            <a:pPr algn="l">
              <a:spcAft>
                <a:spcPts val="200"/>
              </a:spcAft>
              <a:defRPr sz="1300" b="1">
                <a:solidFill>
                  <a:srgbClr val="0078D4"/>
                </a:solidFill>
                <a:latin typeface="Segoe UI"/>
              </a:defRPr>
            </a:pPr>
            <a:r>
              <a:t>Spark Compatibility</a:t>
            </a:r>
          </a:p>
        </p:txBody>
      </p:sp>
      <p:sp>
        <p:nvSpPr>
          <p:cNvPr id="11" name="TextBox 10"/>
          <p:cNvSpPr txBox="1"/>
          <p:nvPr/>
        </p:nvSpPr>
        <p:spPr>
          <a:xfrm>
            <a:off x="6400800" y="1938528"/>
            <a:ext cx="4754880" cy="365760"/>
          </a:xfrm>
          <a:prstGeom prst="rect">
            <a:avLst/>
          </a:prstGeom>
          <a:noFill/>
        </p:spPr>
        <p:txBody>
          <a:bodyPr wrap="square">
            <a:spAutoFit/>
          </a:bodyPr>
          <a:lstStyle/>
          <a:p>
            <a:pPr algn="l">
              <a:spcAft>
                <a:spcPts val="200"/>
              </a:spcAft>
              <a:defRPr sz="1100" b="0">
                <a:solidFill>
                  <a:srgbClr val="605E5C"/>
                </a:solidFill>
                <a:latin typeface="Segoe UI"/>
              </a:defRPr>
            </a:pPr>
            <a:r>
              <a:t>Spark 4.x semantic parity, ANSI mode, TIMESTAMP_NTZ, function coverage</a:t>
            </a:r>
          </a:p>
        </p:txBody>
      </p:sp>
      <p:sp>
        <p:nvSpPr>
          <p:cNvPr id="12" name="Rounded Rectangle 11"/>
          <p:cNvSpPr/>
          <p:nvPr/>
        </p:nvSpPr>
        <p:spPr>
          <a:xfrm>
            <a:off x="6217920" y="2560320"/>
            <a:ext cx="5029200" cy="8229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560320"/>
            <a:ext cx="73152" cy="82296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651760"/>
            <a:ext cx="4754880" cy="320040"/>
          </a:xfrm>
          <a:prstGeom prst="rect">
            <a:avLst/>
          </a:prstGeom>
          <a:noFill/>
        </p:spPr>
        <p:txBody>
          <a:bodyPr wrap="square">
            <a:spAutoFit/>
          </a:bodyPr>
          <a:lstStyle/>
          <a:p>
            <a:pPr algn="l">
              <a:spcAft>
                <a:spcPts val="200"/>
              </a:spcAft>
              <a:defRPr sz="1300" b="1">
                <a:solidFill>
                  <a:srgbClr val="107C10"/>
                </a:solidFill>
                <a:latin typeface="Segoe UI"/>
              </a:defRPr>
            </a:pPr>
            <a:r>
              <a:t>Performance</a:t>
            </a:r>
          </a:p>
        </p:txBody>
      </p:sp>
      <p:sp>
        <p:nvSpPr>
          <p:cNvPr id="15" name="TextBox 14"/>
          <p:cNvSpPr txBox="1"/>
          <p:nvPr/>
        </p:nvSpPr>
        <p:spPr>
          <a:xfrm>
            <a:off x="6400800" y="2944368"/>
            <a:ext cx="4754880" cy="365760"/>
          </a:xfrm>
          <a:prstGeom prst="rect">
            <a:avLst/>
          </a:prstGeom>
          <a:noFill/>
        </p:spPr>
        <p:txBody>
          <a:bodyPr wrap="square">
            <a:spAutoFit/>
          </a:bodyPr>
          <a:lstStyle/>
          <a:p>
            <a:pPr algn="l">
              <a:spcAft>
                <a:spcPts val="200"/>
              </a:spcAft>
              <a:defRPr sz="1100" b="0">
                <a:solidFill>
                  <a:srgbClr val="605E5C"/>
                </a:solidFill>
                <a:latin typeface="Segoe UI"/>
              </a:defRPr>
            </a:pPr>
            <a:r>
              <a:t>Dynamic filters, bloom-filter pushdown, join optimization, memory &amp; spill robustness</a:t>
            </a:r>
          </a:p>
        </p:txBody>
      </p:sp>
      <p:sp>
        <p:nvSpPr>
          <p:cNvPr id="16" name="Rounded Rectangle 15"/>
          <p:cNvSpPr/>
          <p:nvPr/>
        </p:nvSpPr>
        <p:spPr>
          <a:xfrm>
            <a:off x="6217920" y="3566160"/>
            <a:ext cx="5029200" cy="8229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566160"/>
            <a:ext cx="73152" cy="822960"/>
          </a:xfrm>
          <a:prstGeom prst="rect">
            <a:avLst/>
          </a:prstGeom>
          <a:solidFill>
            <a:srgbClr val="886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657600"/>
            <a:ext cx="4754880" cy="320040"/>
          </a:xfrm>
          <a:prstGeom prst="rect">
            <a:avLst/>
          </a:prstGeom>
          <a:noFill/>
        </p:spPr>
        <p:txBody>
          <a:bodyPr wrap="square">
            <a:spAutoFit/>
          </a:bodyPr>
          <a:lstStyle/>
          <a:p>
            <a:pPr algn="l">
              <a:spcAft>
                <a:spcPts val="200"/>
              </a:spcAft>
              <a:defRPr sz="1300" b="1">
                <a:solidFill>
                  <a:srgbClr val="886CE4"/>
                </a:solidFill>
                <a:latin typeface="Segoe UI"/>
              </a:defRPr>
            </a:pPr>
            <a:r>
              <a:t>Enterprise Features</a:t>
            </a:r>
          </a:p>
        </p:txBody>
      </p:sp>
      <p:sp>
        <p:nvSpPr>
          <p:cNvPr id="19" name="TextBox 18"/>
          <p:cNvSpPr txBox="1"/>
          <p:nvPr/>
        </p:nvSpPr>
        <p:spPr>
          <a:xfrm>
            <a:off x="6400800" y="3950208"/>
            <a:ext cx="4754880" cy="365760"/>
          </a:xfrm>
          <a:prstGeom prst="rect">
            <a:avLst/>
          </a:prstGeom>
          <a:noFill/>
        </p:spPr>
        <p:txBody>
          <a:bodyPr wrap="square">
            <a:spAutoFit/>
          </a:bodyPr>
          <a:lstStyle/>
          <a:p>
            <a:pPr algn="l">
              <a:spcAft>
                <a:spcPts val="200"/>
              </a:spcAft>
              <a:defRPr sz="1100" b="0">
                <a:solidFill>
                  <a:srgbClr val="605E5C"/>
                </a:solidFill>
                <a:latin typeface="Segoe UI"/>
              </a:defRPr>
            </a:pPr>
            <a:r>
              <a:t>Structured Streaming, complex types (array/map/struct), semi-structured data (JSON variant shredding)</a:t>
            </a:r>
          </a:p>
        </p:txBody>
      </p:sp>
      <p:sp>
        <p:nvSpPr>
          <p:cNvPr id="20" name="Rounded Rectangle 19"/>
          <p:cNvSpPr/>
          <p:nvPr/>
        </p:nvSpPr>
        <p:spPr>
          <a:xfrm>
            <a:off x="731520" y="4663440"/>
            <a:ext cx="10515600" cy="73152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4663440"/>
            <a:ext cx="73152"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736592"/>
            <a:ext cx="10241280" cy="594360"/>
          </a:xfrm>
          <a:prstGeom prst="rect">
            <a:avLst/>
          </a:prstGeom>
          <a:noFill/>
        </p:spPr>
        <p:txBody>
          <a:bodyPr wrap="square">
            <a:spAutoFit/>
          </a:bodyPr>
          <a:lstStyle/>
          <a:p>
            <a:r>
              <a:rPr sz="1300" b="1">
                <a:solidFill>
                  <a:srgbClr val="0078D4"/>
                </a:solidFill>
                <a:latin typeface="Segoe UI"/>
              </a:rPr>
              <a:t>Shared investment: </a:t>
            </a:r>
            <a:r>
              <a:rPr sz="1300">
                <a:solidFill>
                  <a:srgbClr val="323130"/>
                </a:solidFill>
                <a:latin typeface="Segoe UI"/>
              </a:rPr>
              <a:t>Each new Spark-compatible Velox capability expands native execution opportunities for Fabric and the broader ecosystem. We're committed to closing the Spark-Velox semantic gap — every function we upstream benefits all adopters.</a:t>
            </a:r>
          </a:p>
        </p:txBody>
      </p:sp>
      <p:sp>
        <p:nvSpPr>
          <p:cNvPr id="23" name="TextBox 22"/>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24" name="TextBox 23"/>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886CE4"/>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828800" cy="548640"/>
          </a:xfrm>
          <a:prstGeom prst="rect">
            <a:avLst/>
          </a:prstGeom>
          <a:noFill/>
        </p:spPr>
        <p:txBody>
          <a:bodyPr wrap="square">
            <a:spAutoFit/>
          </a:bodyPr>
          <a:lstStyle/>
          <a:p>
            <a:pPr algn="l">
              <a:spcAft>
                <a:spcPts val="200"/>
              </a:spcAft>
              <a:defRPr sz="4800" b="1">
                <a:solidFill>
                  <a:srgbClr val="FFFFFF"/>
                </a:solidFill>
                <a:latin typeface="Segoe UI Light"/>
              </a:defRPr>
            </a:pPr>
            <a:r>
              <a:t>07</a:t>
            </a:r>
          </a:p>
        </p:txBody>
      </p:sp>
      <p:sp>
        <p:nvSpPr>
          <p:cNvPr id="4" name="TextBox 3"/>
          <p:cNvSpPr txBox="1"/>
          <p:nvPr/>
        </p:nvSpPr>
        <p:spPr>
          <a:xfrm>
            <a:off x="731520" y="2560320"/>
            <a:ext cx="9144000" cy="731520"/>
          </a:xfrm>
          <a:prstGeom prst="rect">
            <a:avLst/>
          </a:prstGeom>
          <a:noFill/>
        </p:spPr>
        <p:txBody>
          <a:bodyPr wrap="square">
            <a:spAutoFit/>
          </a:bodyPr>
          <a:lstStyle/>
          <a:p>
            <a:pPr algn="l">
              <a:spcAft>
                <a:spcPts val="200"/>
              </a:spcAft>
              <a:defRPr sz="3600" b="1">
                <a:solidFill>
                  <a:srgbClr val="FFFFFF"/>
                </a:solidFill>
                <a:latin typeface="Segoe UI Semibold"/>
              </a:defRPr>
            </a:pPr>
            <a:r>
              <a:t>Call for Action</a:t>
            </a:r>
          </a:p>
        </p:txBody>
      </p:sp>
      <p:sp>
        <p:nvSpPr>
          <p:cNvPr id="5" name="TextBox 4"/>
          <p:cNvSpPr txBox="1"/>
          <p:nvPr/>
        </p:nvSpPr>
        <p:spPr>
          <a:xfrm>
            <a:off x="731520" y="3383280"/>
            <a:ext cx="9144000" cy="457200"/>
          </a:xfrm>
          <a:prstGeom prst="rect">
            <a:avLst/>
          </a:prstGeom>
          <a:noFill/>
        </p:spPr>
        <p:txBody>
          <a:bodyPr wrap="square">
            <a:spAutoFit/>
          </a:bodyPr>
          <a:lstStyle/>
          <a:p>
            <a:pPr algn="l">
              <a:spcAft>
                <a:spcPts val="200"/>
              </a:spcAft>
              <a:defRPr sz="1800" b="0">
                <a:solidFill>
                  <a:srgbClr val="B4D6FA"/>
                </a:solidFill>
                <a:latin typeface="Segoe UI"/>
              </a:defRPr>
            </a:pPr>
            <a:r>
              <a:t>We welcome deeper collaboration with the Velox and Gluten communities.</a:t>
            </a:r>
          </a:p>
        </p:txBody>
      </p:sp>
      <p:sp>
        <p:nvSpPr>
          <p:cNvPr id="6" name="TextBox 5"/>
          <p:cNvSpPr txBox="1"/>
          <p:nvPr/>
        </p:nvSpPr>
        <p:spPr>
          <a:xfrm>
            <a:off x="10972800" y="6400800"/>
            <a:ext cx="914400" cy="320040"/>
          </a:xfrm>
          <a:prstGeom prst="rect">
            <a:avLst/>
          </a:prstGeom>
          <a:noFill/>
        </p:spPr>
        <p:txBody>
          <a:bodyPr wrap="none">
            <a:spAutoFit/>
          </a:bodyPr>
          <a:lstStyle/>
          <a:p>
            <a:pPr algn="r">
              <a:defRPr sz="900">
                <a:solidFill>
                  <a:srgbClr val="B4D6FA"/>
                </a:solidFill>
                <a:latin typeface="Segoe UI"/>
              </a:defRPr>
            </a:pPr>
            <a: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548640"/>
          </a:xfrm>
          <a:prstGeom prst="rect">
            <a:avLst/>
          </a:prstGeom>
          <a:noFill/>
        </p:spPr>
        <p:txBody>
          <a:bodyPr wrap="square">
            <a:spAutoFit/>
          </a:bodyPr>
          <a:lstStyle/>
          <a:p>
            <a:pPr algn="l">
              <a:spcAft>
                <a:spcPts val="200"/>
              </a:spcAft>
              <a:defRPr sz="3200" b="1">
                <a:solidFill>
                  <a:srgbClr val="323130"/>
                </a:solidFill>
                <a:latin typeface="Segoe UI Semibold"/>
              </a:defRPr>
            </a:pPr>
            <a:r>
              <a:t>Join the Community</a:t>
            </a:r>
          </a:p>
        </p:txBody>
      </p:sp>
      <p:sp>
        <p:nvSpPr>
          <p:cNvPr id="3" name="Rectangle 2"/>
          <p:cNvSpPr/>
          <p:nvPr/>
        </p:nvSpPr>
        <p:spPr>
          <a:xfrm>
            <a:off x="731520" y="868680"/>
            <a:ext cx="109728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515600" cy="320040"/>
          </a:xfrm>
          <a:prstGeom prst="rect">
            <a:avLst/>
          </a:prstGeom>
          <a:noFill/>
        </p:spPr>
        <p:txBody>
          <a:bodyPr wrap="square">
            <a:spAutoFit/>
          </a:bodyPr>
          <a:lstStyle/>
          <a:p>
            <a:pPr algn="l">
              <a:spcAft>
                <a:spcPts val="200"/>
              </a:spcAft>
              <a:defRPr sz="1400" b="0">
                <a:solidFill>
                  <a:srgbClr val="323130"/>
                </a:solidFill>
                <a:latin typeface="Segoe UI"/>
              </a:defRPr>
            </a:pPr>
            <a:r>
              <a:t>Gluten and Velox thrive on diverse contributors. Here's how to get involved:</a:t>
            </a:r>
          </a:p>
        </p:txBody>
      </p:sp>
      <p:sp>
        <p:nvSpPr>
          <p:cNvPr id="5" name="Rounded Rectangle 4"/>
          <p:cNvSpPr/>
          <p:nvPr/>
        </p:nvSpPr>
        <p:spPr>
          <a:xfrm>
            <a:off x="731520" y="1554480"/>
            <a:ext cx="5212080" cy="12801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554480"/>
            <a:ext cx="73152"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4937760" cy="320040"/>
          </a:xfrm>
          <a:prstGeom prst="rect">
            <a:avLst/>
          </a:prstGeom>
          <a:noFill/>
        </p:spPr>
        <p:txBody>
          <a:bodyPr wrap="square">
            <a:spAutoFit/>
          </a:bodyPr>
          <a:lstStyle/>
          <a:p>
            <a:pPr algn="l">
              <a:spcAft>
                <a:spcPts val="200"/>
              </a:spcAft>
              <a:defRPr sz="1300" b="1">
                <a:solidFill>
                  <a:srgbClr val="0078D4"/>
                </a:solidFill>
                <a:latin typeface="Segoe UI"/>
              </a:defRPr>
            </a:pPr>
            <a:r>
              <a:t>Contribute Code</a:t>
            </a:r>
          </a:p>
        </p:txBody>
      </p:sp>
      <p:sp>
        <p:nvSpPr>
          <p:cNvPr id="8" name="TextBox 7"/>
          <p:cNvSpPr txBox="1"/>
          <p:nvPr/>
        </p:nvSpPr>
        <p:spPr>
          <a:xfrm>
            <a:off x="914400" y="1938528"/>
            <a:ext cx="4937760" cy="822960"/>
          </a:xfrm>
          <a:prstGeom prst="rect">
            <a:avLst/>
          </a:prstGeom>
          <a:noFill/>
        </p:spPr>
        <p:txBody>
          <a:bodyPr wrap="square">
            <a:spAutoFit/>
          </a:bodyPr>
          <a:lstStyle/>
          <a:p>
            <a:pPr algn="l">
              <a:spcAft>
                <a:spcPts val="200"/>
              </a:spcAft>
              <a:defRPr sz="1100" b="0">
                <a:solidFill>
                  <a:srgbClr val="605E5C"/>
                </a:solidFill>
                <a:latin typeface="Segoe UI"/>
              </a:defRPr>
            </a:pPr>
            <a:r>
              <a:t>Start here: add a missing Spark function to Velox (e.g., approx_percentile, avg_if). It unblocks native execution for thousands of users. See help-wanted issues on Gluten and Velox GitHub.</a:t>
            </a:r>
          </a:p>
        </p:txBody>
      </p:sp>
      <p:sp>
        <p:nvSpPr>
          <p:cNvPr id="9" name="Rounded Rectangle 8"/>
          <p:cNvSpPr/>
          <p:nvPr/>
        </p:nvSpPr>
        <p:spPr>
          <a:xfrm>
            <a:off x="6217920" y="1554480"/>
            <a:ext cx="5212080" cy="12801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554480"/>
            <a:ext cx="73152" cy="128016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937760" cy="320040"/>
          </a:xfrm>
          <a:prstGeom prst="rect">
            <a:avLst/>
          </a:prstGeom>
          <a:noFill/>
        </p:spPr>
        <p:txBody>
          <a:bodyPr wrap="square">
            <a:spAutoFit/>
          </a:bodyPr>
          <a:lstStyle/>
          <a:p>
            <a:pPr algn="l">
              <a:spcAft>
                <a:spcPts val="200"/>
              </a:spcAft>
              <a:defRPr sz="1300" b="1">
                <a:solidFill>
                  <a:srgbClr val="107C10"/>
                </a:solidFill>
                <a:latin typeface="Segoe UI"/>
              </a:defRPr>
            </a:pPr>
            <a:r>
              <a:t>Test &amp; Report</a:t>
            </a:r>
          </a:p>
        </p:txBody>
      </p:sp>
      <p:sp>
        <p:nvSpPr>
          <p:cNvPr id="12" name="TextBox 11"/>
          <p:cNvSpPr txBox="1"/>
          <p:nvPr/>
        </p:nvSpPr>
        <p:spPr>
          <a:xfrm>
            <a:off x="6400800" y="1938528"/>
            <a:ext cx="4937760" cy="822960"/>
          </a:xfrm>
          <a:prstGeom prst="rect">
            <a:avLst/>
          </a:prstGeom>
          <a:noFill/>
        </p:spPr>
        <p:txBody>
          <a:bodyPr wrap="square">
            <a:spAutoFit/>
          </a:bodyPr>
          <a:lstStyle/>
          <a:p>
            <a:pPr algn="l">
              <a:spcAft>
                <a:spcPts val="200"/>
              </a:spcAft>
              <a:defRPr sz="1100" b="0">
                <a:solidFill>
                  <a:srgbClr val="605E5C"/>
                </a:solidFill>
                <a:latin typeface="Segoe UI"/>
              </a:defRPr>
            </a:pPr>
            <a:r>
              <a:t>Run Gluten on your workloads. File issues with explain() output and Velox error messages — production edge cases are the most valuable contributions.</a:t>
            </a:r>
          </a:p>
        </p:txBody>
      </p:sp>
      <p:sp>
        <p:nvSpPr>
          <p:cNvPr id="13" name="Rounded Rectangle 12"/>
          <p:cNvSpPr/>
          <p:nvPr/>
        </p:nvSpPr>
        <p:spPr>
          <a:xfrm>
            <a:off x="731520" y="3108960"/>
            <a:ext cx="5212080" cy="12801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108960"/>
            <a:ext cx="73152" cy="1280160"/>
          </a:xfrm>
          <a:prstGeom prst="rect">
            <a:avLst/>
          </a:prstGeom>
          <a:solidFill>
            <a:srgbClr val="886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00400"/>
            <a:ext cx="4937760" cy="320040"/>
          </a:xfrm>
          <a:prstGeom prst="rect">
            <a:avLst/>
          </a:prstGeom>
          <a:noFill/>
        </p:spPr>
        <p:txBody>
          <a:bodyPr wrap="square">
            <a:spAutoFit/>
          </a:bodyPr>
          <a:lstStyle/>
          <a:p>
            <a:pPr algn="l">
              <a:spcAft>
                <a:spcPts val="200"/>
              </a:spcAft>
              <a:defRPr sz="1300" b="1">
                <a:solidFill>
                  <a:srgbClr val="886CE4"/>
                </a:solidFill>
                <a:latin typeface="Segoe UI"/>
              </a:defRPr>
            </a:pPr>
            <a:r>
              <a:t>Improve Documentation</a:t>
            </a:r>
          </a:p>
        </p:txBody>
      </p:sp>
      <p:sp>
        <p:nvSpPr>
          <p:cNvPr id="16" name="TextBox 15"/>
          <p:cNvSpPr txBox="1"/>
          <p:nvPr/>
        </p:nvSpPr>
        <p:spPr>
          <a:xfrm>
            <a:off x="914400" y="3493008"/>
            <a:ext cx="4937760" cy="822960"/>
          </a:xfrm>
          <a:prstGeom prst="rect">
            <a:avLst/>
          </a:prstGeom>
          <a:noFill/>
        </p:spPr>
        <p:txBody>
          <a:bodyPr wrap="square">
            <a:spAutoFit/>
          </a:bodyPr>
          <a:lstStyle/>
          <a:p>
            <a:pPr algn="l">
              <a:spcAft>
                <a:spcPts val="200"/>
              </a:spcAft>
              <a:defRPr sz="1100" b="0">
                <a:solidFill>
                  <a:srgbClr val="605E5C"/>
                </a:solidFill>
                <a:latin typeface="Segoe UI"/>
              </a:defRPr>
            </a:pPr>
            <a:r>
              <a:t>Configuration guides, fallback analysis tutorials, and migration recipes are always needed. Docs PRs welcome at apache/gluten.</a:t>
            </a:r>
          </a:p>
        </p:txBody>
      </p:sp>
      <p:sp>
        <p:nvSpPr>
          <p:cNvPr id="17" name="Rounded Rectangle 16"/>
          <p:cNvSpPr/>
          <p:nvPr/>
        </p:nvSpPr>
        <p:spPr>
          <a:xfrm>
            <a:off x="6217920" y="3108960"/>
            <a:ext cx="5212080" cy="1280160"/>
          </a:xfrm>
          <a:prstGeom prst="roundRect">
            <a:avLst/>
          </a:prstGeom>
          <a:solidFill>
            <a:srgbClr val="FAF9F8"/>
          </a:solidFill>
          <a:ln w="12700">
            <a:solidFill>
              <a:srgbClr val="EDEB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3108960"/>
            <a:ext cx="73152" cy="128016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200400"/>
            <a:ext cx="4937760" cy="320040"/>
          </a:xfrm>
          <a:prstGeom prst="rect">
            <a:avLst/>
          </a:prstGeom>
          <a:noFill/>
        </p:spPr>
        <p:txBody>
          <a:bodyPr wrap="square">
            <a:spAutoFit/>
          </a:bodyPr>
          <a:lstStyle/>
          <a:p>
            <a:pPr algn="l">
              <a:spcAft>
                <a:spcPts val="200"/>
              </a:spcAft>
              <a:defRPr sz="1300" b="1">
                <a:solidFill>
                  <a:srgbClr val="FF8C00"/>
                </a:solidFill>
                <a:latin typeface="Segoe UI"/>
              </a:defRPr>
            </a:pPr>
            <a:r>
              <a:t>Integrate &amp; Extend</a:t>
            </a:r>
          </a:p>
        </p:txBody>
      </p:sp>
      <p:sp>
        <p:nvSpPr>
          <p:cNvPr id="20" name="TextBox 19"/>
          <p:cNvSpPr txBox="1"/>
          <p:nvPr/>
        </p:nvSpPr>
        <p:spPr>
          <a:xfrm>
            <a:off x="6400800" y="3493008"/>
            <a:ext cx="4937760" cy="822960"/>
          </a:xfrm>
          <a:prstGeom prst="rect">
            <a:avLst/>
          </a:prstGeom>
          <a:noFill/>
        </p:spPr>
        <p:txBody>
          <a:bodyPr wrap="square">
            <a:spAutoFit/>
          </a:bodyPr>
          <a:lstStyle/>
          <a:p>
            <a:pPr algn="l">
              <a:spcAft>
                <a:spcPts val="200"/>
              </a:spcAft>
              <a:defRPr sz="1100" b="0">
                <a:solidFill>
                  <a:srgbClr val="605E5C"/>
                </a:solidFill>
                <a:latin typeface="Segoe UI"/>
              </a:defRPr>
            </a:pPr>
            <a:r>
              <a:t>Build new backends, connect to your storage layer, or prototype Flink/Streaming integrations. The plugin architecture is designed for extensibility.</a:t>
            </a:r>
          </a:p>
        </p:txBody>
      </p:sp>
      <p:sp>
        <p:nvSpPr>
          <p:cNvPr id="21" name="Rounded Rectangle 20"/>
          <p:cNvSpPr/>
          <p:nvPr/>
        </p:nvSpPr>
        <p:spPr>
          <a:xfrm>
            <a:off x="731520" y="4846320"/>
            <a:ext cx="10515600" cy="640080"/>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846320"/>
            <a:ext cx="73152"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919472"/>
            <a:ext cx="10241280" cy="502920"/>
          </a:xfrm>
          <a:prstGeom prst="rect">
            <a:avLst/>
          </a:prstGeom>
          <a:noFill/>
        </p:spPr>
        <p:txBody>
          <a:bodyPr wrap="square">
            <a:spAutoFit/>
          </a:bodyPr>
          <a:lstStyle/>
          <a:p>
            <a:r>
              <a:rPr sz="1300" b="1">
                <a:solidFill>
                  <a:srgbClr val="0078D4"/>
                </a:solidFill>
                <a:latin typeface="Segoe UI"/>
              </a:rPr>
              <a:t>Open invitation: </a:t>
            </a:r>
            <a:r>
              <a:rPr sz="1300">
                <a:solidFill>
                  <a:srgbClr val="323130"/>
                </a:solidFill>
                <a:latin typeface="Segoe UI"/>
              </a:rPr>
              <a:t>If you are debugging difficult Spark-on-Velox edge cases, collaborate with us upstream so the fixes benefit the full ecosystem.</a:t>
            </a:r>
          </a:p>
        </p:txBody>
      </p:sp>
      <p:sp>
        <p:nvSpPr>
          <p:cNvPr id="24" name="TextBox 23"/>
          <p:cNvSpPr txBox="1"/>
          <p:nvPr/>
        </p:nvSpPr>
        <p:spPr>
          <a:xfrm>
            <a:off x="731520" y="5669280"/>
            <a:ext cx="10515600" cy="365760"/>
          </a:xfrm>
          <a:prstGeom prst="rect">
            <a:avLst/>
          </a:prstGeom>
          <a:noFill/>
        </p:spPr>
        <p:txBody>
          <a:bodyPr wrap="square">
            <a:spAutoFit/>
          </a:bodyPr>
          <a:lstStyle/>
          <a:p>
            <a:pPr algn="ctr">
              <a:spcAft>
                <a:spcPts val="200"/>
              </a:spcAft>
              <a:defRPr sz="1000" b="0">
                <a:solidFill>
                  <a:srgbClr val="605E5C"/>
                </a:solidFill>
                <a:latin typeface="Segoe UI"/>
              </a:defRPr>
            </a:pPr>
            <a:r>
              <a:t>github.com/apache/gluten  |  github.com/facebookincubator/velox  |  learn.microsoft.com/fabric/.../native-execution-engine-overview</a:t>
            </a:r>
          </a:p>
        </p:txBody>
      </p:sp>
      <p:sp>
        <p:nvSpPr>
          <p:cNvPr id="25" name="TextBox 24"/>
          <p:cNvSpPr txBox="1"/>
          <p:nvPr/>
        </p:nvSpPr>
        <p:spPr>
          <a:xfrm>
            <a:off x="457200" y="6400800"/>
            <a:ext cx="11247120" cy="320040"/>
          </a:xfrm>
          <a:prstGeom prst="rect">
            <a:avLst/>
          </a:prstGeom>
          <a:noFill/>
        </p:spPr>
        <p:txBody>
          <a:bodyPr wrap="none">
            <a:spAutoFit/>
          </a:bodyPr>
          <a:lstStyle/>
          <a:p>
            <a:pPr>
              <a:defRPr sz="900">
                <a:solidFill>
                  <a:srgbClr val="605E5C"/>
                </a:solidFill>
                <a:latin typeface="Segoe UI"/>
              </a:defRPr>
            </a:pPr>
            <a:r>
              <a:t>VeloxCon 2026  |  April 30  |  Meta HQ, Menlo Park</a:t>
            </a:r>
          </a:p>
        </p:txBody>
      </p:sp>
      <p:sp>
        <p:nvSpPr>
          <p:cNvPr id="26" name="TextBox 25"/>
          <p:cNvSpPr txBox="1"/>
          <p:nvPr/>
        </p:nvSpPr>
        <p:spPr>
          <a:xfrm>
            <a:off x="10972800" y="6400800"/>
            <a:ext cx="914400" cy="320040"/>
          </a:xfrm>
          <a:prstGeom prst="rect">
            <a:avLst/>
          </a:prstGeom>
          <a:noFill/>
        </p:spPr>
        <p:txBody>
          <a:bodyPr wrap="none">
            <a:spAutoFit/>
          </a:bodyPr>
          <a:lstStyle/>
          <a:p>
            <a:pPr algn="r">
              <a:defRPr sz="900">
                <a:solidFill>
                  <a:srgbClr val="605E5C"/>
                </a:solidFill>
                <a:latin typeface="Segoe UI"/>
              </a:defRPr>
            </a:pPr>
            <a: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rot="18900000">
            <a:off x="0" y="0"/>
            <a:ext cx="12191695" cy="6858000"/>
          </a:xfrm>
          <a:prstGeom prst="rect">
            <a:avLst/>
          </a:prstGeom>
          <a:gradFill rotWithShape="1">
            <a:gsLst>
              <a:gs pos="0">
                <a:srgbClr val="0078D4"/>
              </a:gs>
              <a:gs pos="100000">
                <a:srgbClr val="003D6B"/>
              </a:gs>
            </a:gsLst>
            <a:lin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94960" y="731520"/>
            <a:ext cx="231343" cy="231343"/>
          </a:xfrm>
          <a:prstGeom prst="rect">
            <a:avLst/>
          </a:prstGeom>
          <a:solidFill>
            <a:srgbClr val="F25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6536" y="731520"/>
            <a:ext cx="231343" cy="231343"/>
          </a:xfrm>
          <a:prstGeom prst="rect">
            <a:avLst/>
          </a:prstGeom>
          <a:solidFill>
            <a:srgbClr val="7FB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94960" y="1003096"/>
            <a:ext cx="231343" cy="231343"/>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6536" y="1003096"/>
            <a:ext cx="231343" cy="231343"/>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89320" y="749808"/>
            <a:ext cx="1828800" cy="502920"/>
          </a:xfrm>
          <a:prstGeom prst="rect">
            <a:avLst/>
          </a:prstGeom>
          <a:noFill/>
        </p:spPr>
        <p:txBody>
          <a:bodyPr wrap="square">
            <a:spAutoFit/>
          </a:bodyPr>
          <a:lstStyle/>
          <a:p>
            <a:pPr algn="l">
              <a:spcAft>
                <a:spcPts val="200"/>
              </a:spcAft>
              <a:defRPr sz="2200" b="1">
                <a:solidFill>
                  <a:srgbClr val="FFFFFF"/>
                </a:solidFill>
                <a:latin typeface="Segoe UI"/>
              </a:defRPr>
            </a:pPr>
            <a:r>
              <a:t>Microsoft</a:t>
            </a:r>
          </a:p>
        </p:txBody>
      </p:sp>
      <p:sp>
        <p:nvSpPr>
          <p:cNvPr id="8" name="TextBox 7"/>
          <p:cNvSpPr txBox="1"/>
          <p:nvPr/>
        </p:nvSpPr>
        <p:spPr>
          <a:xfrm>
            <a:off x="1371600" y="1554480"/>
            <a:ext cx="9418320" cy="548640"/>
          </a:xfrm>
          <a:prstGeom prst="rect">
            <a:avLst/>
          </a:prstGeom>
          <a:noFill/>
        </p:spPr>
        <p:txBody>
          <a:bodyPr wrap="square">
            <a:spAutoFit/>
          </a:bodyPr>
          <a:lstStyle/>
          <a:p>
            <a:pPr algn="ctr">
              <a:spcAft>
                <a:spcPts val="200"/>
              </a:spcAft>
              <a:defRPr sz="3600" b="1">
                <a:solidFill>
                  <a:srgbClr val="FFFFFF"/>
                </a:solidFill>
                <a:latin typeface="Segoe UI Semibold"/>
              </a:defRPr>
            </a:pPr>
            <a:r>
              <a:t>Thank You &amp; Q&amp;A</a:t>
            </a:r>
          </a:p>
        </p:txBody>
      </p:sp>
      <p:sp>
        <p:nvSpPr>
          <p:cNvPr id="9" name="TextBox 8"/>
          <p:cNvSpPr txBox="1"/>
          <p:nvPr/>
        </p:nvSpPr>
        <p:spPr>
          <a:xfrm>
            <a:off x="1371600" y="2194560"/>
            <a:ext cx="9418320" cy="548640"/>
          </a:xfrm>
          <a:prstGeom prst="rect">
            <a:avLst/>
          </a:prstGeom>
          <a:noFill/>
        </p:spPr>
        <p:txBody>
          <a:bodyPr wrap="square">
            <a:spAutoFit/>
          </a:bodyPr>
          <a:lstStyle/>
          <a:p>
            <a:pPr algn="ctr">
              <a:spcAft>
                <a:spcPts val="200"/>
              </a:spcAft>
              <a:defRPr sz="1800" b="0">
                <a:solidFill>
                  <a:srgbClr val="B4D6FA"/>
                </a:solidFill>
                <a:latin typeface="Segoe UI"/>
              </a:defRPr>
            </a:pPr>
            <a:r>
              <a:t>From Apache Incubator to Top-Level Project:</a:t>
            </a:r>
            <a:br/>
            <a:r>
              <a:t>The Apache Gluten Journey with Velox at Microsoft</a:t>
            </a:r>
          </a:p>
        </p:txBody>
      </p:sp>
      <p:sp>
        <p:nvSpPr>
          <p:cNvPr id="10" name="TextBox 9"/>
          <p:cNvSpPr txBox="1"/>
          <p:nvPr/>
        </p:nvSpPr>
        <p:spPr>
          <a:xfrm>
            <a:off x="2286000" y="3017520"/>
            <a:ext cx="7589520" cy="320040"/>
          </a:xfrm>
          <a:prstGeom prst="rect">
            <a:avLst/>
          </a:prstGeom>
          <a:noFill/>
        </p:spPr>
        <p:txBody>
          <a:bodyPr wrap="square">
            <a:spAutoFit/>
          </a:bodyPr>
          <a:lstStyle/>
          <a:p>
            <a:pPr algn="ctr">
              <a:spcAft>
                <a:spcPts val="200"/>
              </a:spcAft>
              <a:defRPr sz="1500" b="1">
                <a:solidFill>
                  <a:srgbClr val="FFFFFF"/>
                </a:solidFill>
                <a:latin typeface="Segoe UI"/>
              </a:defRPr>
            </a:pPr>
            <a:r>
              <a:t>William Chen  |  Apache Gluten PMC Member  |  Microsoft</a:t>
            </a:r>
          </a:p>
        </p:txBody>
      </p:sp>
      <p:sp>
        <p:nvSpPr>
          <p:cNvPr id="11" name="TextBox 10"/>
          <p:cNvSpPr txBox="1"/>
          <p:nvPr/>
        </p:nvSpPr>
        <p:spPr>
          <a:xfrm>
            <a:off x="2286000" y="3337560"/>
            <a:ext cx="7589520" cy="274320"/>
          </a:xfrm>
          <a:prstGeom prst="rect">
            <a:avLst/>
          </a:prstGeom>
          <a:noFill/>
        </p:spPr>
        <p:txBody>
          <a:bodyPr wrap="square">
            <a:spAutoFit/>
          </a:bodyPr>
          <a:lstStyle/>
          <a:p>
            <a:pPr algn="ctr">
              <a:spcAft>
                <a:spcPts val="200"/>
              </a:spcAft>
              <a:defRPr sz="1200" b="0">
                <a:solidFill>
                  <a:srgbClr val="B4D6FA"/>
                </a:solidFill>
                <a:latin typeface="Segoe UI"/>
              </a:defRPr>
            </a:pPr>
            <a:r>
              <a:t>williamchen@microsoft.com</a:t>
            </a:r>
          </a:p>
        </p:txBody>
      </p:sp>
      <p:sp>
        <p:nvSpPr>
          <p:cNvPr id="12" name="TextBox 11"/>
          <p:cNvSpPr txBox="1"/>
          <p:nvPr/>
        </p:nvSpPr>
        <p:spPr>
          <a:xfrm>
            <a:off x="2286000" y="3749039"/>
            <a:ext cx="7589520" cy="320040"/>
          </a:xfrm>
          <a:prstGeom prst="rect">
            <a:avLst/>
          </a:prstGeom>
          <a:noFill/>
        </p:spPr>
        <p:txBody>
          <a:bodyPr wrap="square">
            <a:spAutoFit/>
          </a:bodyPr>
          <a:lstStyle/>
          <a:p>
            <a:pPr algn="ctr">
              <a:spcAft>
                <a:spcPts val="200"/>
              </a:spcAft>
              <a:defRPr sz="1500" b="1">
                <a:solidFill>
                  <a:srgbClr val="FFFFFF"/>
                </a:solidFill>
                <a:latin typeface="Segoe UI"/>
              </a:defRPr>
            </a:pPr>
            <a:r>
              <a:t>Ajith Shetty  |  Microsoft</a:t>
            </a:r>
          </a:p>
        </p:txBody>
      </p:sp>
      <p:sp>
        <p:nvSpPr>
          <p:cNvPr id="13" name="TextBox 12"/>
          <p:cNvSpPr txBox="1"/>
          <p:nvPr/>
        </p:nvSpPr>
        <p:spPr>
          <a:xfrm>
            <a:off x="2286000" y="4069080"/>
            <a:ext cx="7589520" cy="274320"/>
          </a:xfrm>
          <a:prstGeom prst="rect">
            <a:avLst/>
          </a:prstGeom>
          <a:noFill/>
        </p:spPr>
        <p:txBody>
          <a:bodyPr wrap="square">
            <a:spAutoFit/>
          </a:bodyPr>
          <a:lstStyle/>
          <a:p>
            <a:pPr algn="ctr">
              <a:spcAft>
                <a:spcPts val="200"/>
              </a:spcAft>
              <a:defRPr sz="1200" b="0">
                <a:solidFill>
                  <a:srgbClr val="B4D6FA"/>
                </a:solidFill>
                <a:latin typeface="Segoe UI"/>
              </a:defRPr>
            </a:pPr>
            <a:r>
              <a:t>ajithshetty@microsoft.com</a:t>
            </a:r>
          </a:p>
        </p:txBody>
      </p:sp>
      <p:sp>
        <p:nvSpPr>
          <p:cNvPr id="14" name="TextBox 13"/>
          <p:cNvSpPr txBox="1"/>
          <p:nvPr/>
        </p:nvSpPr>
        <p:spPr>
          <a:xfrm>
            <a:off x="2286000" y="4663440"/>
            <a:ext cx="7589520" cy="274320"/>
          </a:xfrm>
          <a:prstGeom prst="rect">
            <a:avLst/>
          </a:prstGeom>
          <a:noFill/>
        </p:spPr>
        <p:txBody>
          <a:bodyPr wrap="square">
            <a:spAutoFit/>
          </a:bodyPr>
          <a:lstStyle/>
          <a:p>
            <a:pPr algn="ctr">
              <a:spcAft>
                <a:spcPts val="200"/>
              </a:spcAft>
              <a:defRPr sz="1200" b="0">
                <a:solidFill>
                  <a:srgbClr val="8EC8FF"/>
                </a:solidFill>
                <a:latin typeface="Segoe UI"/>
              </a:defRPr>
            </a:pPr>
            <a:r>
              <a:t>github.com/apache/gluten</a:t>
            </a:r>
          </a:p>
        </p:txBody>
      </p:sp>
      <p:sp>
        <p:nvSpPr>
          <p:cNvPr id="15" name="TextBox 14"/>
          <p:cNvSpPr txBox="1"/>
          <p:nvPr/>
        </p:nvSpPr>
        <p:spPr>
          <a:xfrm>
            <a:off x="2286000" y="4937759"/>
            <a:ext cx="7589520" cy="274320"/>
          </a:xfrm>
          <a:prstGeom prst="rect">
            <a:avLst/>
          </a:prstGeom>
          <a:noFill/>
        </p:spPr>
        <p:txBody>
          <a:bodyPr wrap="square">
            <a:spAutoFit/>
          </a:bodyPr>
          <a:lstStyle/>
          <a:p>
            <a:pPr algn="ctr">
              <a:spcAft>
                <a:spcPts val="200"/>
              </a:spcAft>
              <a:defRPr sz="1200" b="0">
                <a:solidFill>
                  <a:srgbClr val="8EC8FF"/>
                </a:solidFill>
                <a:latin typeface="Segoe UI"/>
              </a:defRPr>
            </a:pPr>
            <a:r>
              <a:t>github.com/facebookincubator/velox</a:t>
            </a:r>
          </a:p>
        </p:txBody>
      </p:sp>
      <p:sp>
        <p:nvSpPr>
          <p:cNvPr id="16" name="TextBox 15"/>
          <p:cNvSpPr txBox="1"/>
          <p:nvPr/>
        </p:nvSpPr>
        <p:spPr>
          <a:xfrm>
            <a:off x="2286000" y="5212079"/>
            <a:ext cx="7589520" cy="274320"/>
          </a:xfrm>
          <a:prstGeom prst="rect">
            <a:avLst/>
          </a:prstGeom>
          <a:noFill/>
        </p:spPr>
        <p:txBody>
          <a:bodyPr wrap="square">
            <a:spAutoFit/>
          </a:bodyPr>
          <a:lstStyle/>
          <a:p>
            <a:pPr algn="ctr">
              <a:spcAft>
                <a:spcPts val="200"/>
              </a:spcAft>
              <a:defRPr sz="1200" b="0">
                <a:solidFill>
                  <a:srgbClr val="8EC8FF"/>
                </a:solidFill>
                <a:latin typeface="Segoe UI"/>
              </a:defRPr>
            </a:pPr>
            <a:r>
              <a:t>learn.microsoft.com/fabric/data-engineering/native-execution-engine-overview</a:t>
            </a:r>
          </a:p>
        </p:txBody>
      </p:sp>
      <p:sp>
        <p:nvSpPr>
          <p:cNvPr id="17" name="TextBox 16"/>
          <p:cNvSpPr txBox="1"/>
          <p:nvPr/>
        </p:nvSpPr>
        <p:spPr>
          <a:xfrm>
            <a:off x="1371600" y="5577840"/>
            <a:ext cx="9418320" cy="320040"/>
          </a:xfrm>
          <a:prstGeom prst="rect">
            <a:avLst/>
          </a:prstGeom>
          <a:noFill/>
        </p:spPr>
        <p:txBody>
          <a:bodyPr wrap="square">
            <a:spAutoFit/>
          </a:bodyPr>
          <a:lstStyle/>
          <a:p>
            <a:pPr algn="ctr">
              <a:spcAft>
                <a:spcPts val="200"/>
              </a:spcAft>
              <a:defRPr sz="1300" b="0">
                <a:solidFill>
                  <a:srgbClr val="B4D6FA"/>
                </a:solidFill>
                <a:latin typeface="Segoe UI"/>
              </a:defRPr>
            </a:pPr>
            <a:r>
              <a:t>Shared commitment: upstream innovation, production hardening at scale, and shared progress across the Velox ecosystem.</a:t>
            </a:r>
          </a:p>
        </p:txBody>
      </p:sp>
      <p:sp>
        <p:nvSpPr>
          <p:cNvPr id="18" name="TextBox 17"/>
          <p:cNvSpPr txBox="1"/>
          <p:nvPr/>
        </p:nvSpPr>
        <p:spPr>
          <a:xfrm>
            <a:off x="1371600" y="6217920"/>
            <a:ext cx="9418320" cy="274320"/>
          </a:xfrm>
          <a:prstGeom prst="rect">
            <a:avLst/>
          </a:prstGeom>
          <a:noFill/>
        </p:spPr>
        <p:txBody>
          <a:bodyPr wrap="square">
            <a:spAutoFit/>
          </a:bodyPr>
          <a:lstStyle/>
          <a:p>
            <a:pPr algn="ctr">
              <a:spcAft>
                <a:spcPts val="200"/>
              </a:spcAft>
              <a:defRPr sz="1000" b="0">
                <a:solidFill>
                  <a:srgbClr val="8EC8FF"/>
                </a:solidFill>
                <a:latin typeface="Segoe UI"/>
              </a:defRPr>
            </a:pPr>
            <a:r>
              <a:t>VeloxCon 2026  |  April 30  |  Meta HQ, Menlo Park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